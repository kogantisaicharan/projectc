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— TITLE PAGE          [ say this in about 20 seconds ]</a:t>
            </a:r>
          </a:p>
          <a:p/>
          <a:p>
            <a:r>
              <a:t>"Good morning. We are Team &lt;name&gt;. Our problem statement is PS26106 —</a:t>
            </a:r>
          </a:p>
          <a:p>
            <a:r>
              <a:t>AI-powered email threat detection, geolocation and forensic intelligence.</a:t>
            </a:r>
          </a:p>
          <a:p/>
          <a:p>
            <a:r>
              <a:t>Our product is called HEADWATERS. A headwater is the place a river begins —</a:t>
            </a:r>
          </a:p>
          <a:p>
            <a:r>
              <a:t>and that is exactly what we do. Someone forwards us a suspicious email, and we</a:t>
            </a:r>
          </a:p>
          <a:p>
            <a:r>
              <a:t>trace it back to where it started.</a:t>
            </a:r>
          </a:p>
          <a:p/>
          <a:p>
            <a:r>
              <a:t>One line to remember for the whole pitch: CODE CHECKS THE FACTS, THE AI ONLY</a:t>
            </a:r>
          </a:p>
          <a:p>
            <a:r>
              <a:t>EXPLAINS THEM. That is what makes our answer something you can defend.</a:t>
            </a:r>
          </a:p>
          <a:p/>
          <a:p>
            <a:r>
              <a:t>On the right is our actual dashboard. One email in — and you get a risk score</a:t>
            </a:r>
          </a:p>
          <a:p>
            <a:r>
              <a:t>with reasons, where it came from, and evidence that is locked."</a:t>
            </a:r>
          </a:p>
          <a:p/>
          <a:p>
            <a:r>
              <a:t>IF A JUDGE ASKS</a:t>
            </a:r>
          </a:p>
          <a:p>
            <a:r>
              <a:t>- Why that name?  A headwater is the source of a river. We trace an attack</a:t>
            </a:r>
          </a:p>
          <a:p>
            <a:r>
              <a:t>  back to its beginning.</a:t>
            </a:r>
          </a:p>
          <a:p>
            <a:r>
              <a:t>- Do you need to be an expert to use it?  No. Anyone can forward an email.</a:t>
            </a:r>
          </a:p>
          <a:p>
            <a:r>
              <a:t>  The report is written in plain English.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— PROBLEM AND SOLUTION          [ about 40 seconds ]</a:t>
            </a:r>
          </a:p>
          <a:p/>
          <a:p>
            <a:r>
              <a:t>"First the problem — and it helps to picture the person who actually has it.</a:t>
            </a:r>
          </a:p>
          <a:p/>
          <a:p>
            <a:r>
              <a:t>At a bank or a large company, when employees report a suspicious email, those</a:t>
            </a:r>
          </a:p>
          <a:p>
            <a:r>
              <a:t>reports go to a small team — usually two to five people — whose full-time job is</a:t>
            </a:r>
          </a:p>
          <a:p>
            <a:r>
              <a:t>to look at them. They are called SECURITY ANALYSTS, and they sit in a SOC, a</a:t>
            </a:r>
          </a:p>
          <a:p>
            <a:r>
              <a:t>Security Operations Centre. The same role exists in a university IT team, a</a:t>
            </a:r>
          </a:p>
          <a:p>
            <a:r>
              <a:t>government CERT, or a cybercrime police cell.</a:t>
            </a:r>
          </a:p>
          <a:p/>
          <a:p>
            <a:r>
              <a:t>Picture one of them at a desk with FORTY reported emails to get through today.</a:t>
            </a:r>
          </a:p>
          <a:p>
            <a:r>
              <a:t>Right now they do it by hand — copy the hidden headers out of the email, paste</a:t>
            </a:r>
          </a:p>
          <a:p>
            <a:r>
              <a:t>them into one website, look up the IP address on another, check the link on a</a:t>
            </a:r>
          </a:p>
          <a:p>
            <a:r>
              <a:t>third, then write a Word document. About an hour per email. And nobody can</a:t>
            </a:r>
          </a:p>
          <a:p>
            <a:r>
              <a:t>reproduce their work afterwards.</a:t>
            </a:r>
          </a:p>
          <a:p/>
          <a:p>
            <a:r>
              <a:t>Notice that our problem statement says FORENSIC and INVESTIGATION — not FILTER.</a:t>
            </a:r>
          </a:p>
          <a:p>
            <a:r>
              <a:t>They are asking for the part that happens AFTER something gets through.</a:t>
            </a:r>
          </a:p>
          <a:p/>
          <a:p>
            <a:r>
              <a:t>So our solution is six steps. Send the email in. We open it inside a locked box,</a:t>
            </a:r>
          </a:p>
          <a:p>
            <a:r>
              <a:t>so it can never run. We check who really sent it. We score it — and for every</a:t>
            </a:r>
          </a:p>
          <a:p>
            <a:r>
              <a:t>point of that score, we show the rule behind it. We trace the server it came</a:t>
            </a:r>
          </a:p>
          <a:p>
            <a:r>
              <a:t>from and check who else was hit. Then we lock the report.</a:t>
            </a:r>
          </a:p>
          <a:p/>
          <a:p>
            <a:r>
              <a:t>Look at the dark bar under the six steps. Steps one to four need NO INTERNET.</a:t>
            </a:r>
          </a:p>
          <a:p>
            <a:r>
              <a:t>Even completely offline, you still get a full answer."</a:t>
            </a:r>
          </a:p>
          <a:p/>
          <a:p>
            <a:r>
              <a:t>IF A JUDGE ASKS</a:t>
            </a:r>
          </a:p>
          <a:p>
            <a:r>
              <a:t>- Who exactly is the user?  A security analyst in a SOC — two to five of them at</a:t>
            </a:r>
          </a:p>
          <a:p>
            <a:r>
              <a:t>  a typical bank, or the IT team at a university.</a:t>
            </a:r>
          </a:p>
          <a:p>
            <a:r>
              <a:t>- Why does working offline matter?  Networks fail, and an investigation must not</a:t>
            </a:r>
          </a:p>
          <a:p>
            <a:r>
              <a:t>  stop. It also means we can demo it with the cable pulled out.</a:t>
            </a:r>
          </a:p>
          <a:p>
            <a:r>
              <a:t>- Why cap the AI at 12 points?  So that an AI mistake can never flip the verdict.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— TECHNICAL APPROACH          [ about 35 seconds ]</a:t>
            </a:r>
          </a:p>
          <a:p/>
          <a:p>
            <a:r>
              <a:t>"This is how it works.</a:t>
            </a:r>
          </a:p>
          <a:p/>
          <a:p>
            <a:r>
              <a:t>The analyst sends the email in — by uploading it, or with one click from a</a:t>
            </a:r>
          </a:p>
          <a:p>
            <a:r>
              <a:t>browser button. We immediately open it safely and take a digital fingerprint,</a:t>
            </a:r>
          </a:p>
          <a:p>
            <a:r>
              <a:t>so nothing can be changed afterwards.</a:t>
            </a:r>
          </a:p>
          <a:p/>
          <a:p>
            <a:r>
              <a:t>Then four things happen, left to right.</a:t>
            </a:r>
          </a:p>
          <a:p/>
          <a:p>
            <a:r>
              <a:t>ONE — we read the email's hidden delivery record and check SPF, DKIM and DMARC.</a:t>
            </a:r>
          </a:p>
          <a:p>
            <a:r>
              <a:t>Those are the three standard proofs that a sender really is who they claim.</a:t>
            </a:r>
          </a:p>
          <a:p/>
          <a:p>
            <a:r>
              <a:t>TWO — we look up the sending server. How old is the domain, is that server</a:t>
            </a:r>
          </a:p>
          <a:p>
            <a:r>
              <a:t>known for attacks, which country and network is it on.</a:t>
            </a:r>
          </a:p>
          <a:p/>
          <a:p>
            <a:r>
              <a:t>THREE — the AI reads the wording and spots urgency, fear and money pressure.</a:t>
            </a:r>
          </a:p>
          <a:p>
            <a:r>
              <a:t>But notice the label on that card: the AI is limited to 12 points out of 100,</a:t>
            </a:r>
          </a:p>
          <a:p>
            <a:r>
              <a:t>and it never decides the verdict.</a:t>
            </a:r>
          </a:p>
          <a:p/>
          <a:p>
            <a:r>
              <a:t>FOUR — we compare this email with every past case and link the ones that match.</a:t>
            </a:r>
          </a:p>
          <a:p/>
          <a:p>
            <a:r>
              <a:t>Bottom left is the real payoff. Six separate complaints turned out to be one</a:t>
            </a:r>
          </a:p>
          <a:p>
            <a:r>
              <a:t>single attacker.</a:t>
            </a:r>
          </a:p>
          <a:p/>
          <a:p>
            <a:r>
              <a:t>And look at the bottom-left box: ONE PRODUCT, TWO DOORS INTO IT. A normal</a:t>
            </a:r>
          </a:p>
          <a:p>
            <a:r>
              <a:t>employee clicks one button in Gmail and sees a red or green badge with a single</a:t>
            </a:r>
          </a:p>
          <a:p>
            <a:r>
              <a:t>sentence — that is all they ever see. The analyst opens the full dashboard."</a:t>
            </a:r>
          </a:p>
          <a:p/>
          <a:p>
            <a:r>
              <a:t>IF A JUDGE ASKS</a:t>
            </a:r>
          </a:p>
          <a:p>
            <a:r>
              <a:t>- What are SPF, DKIM and DMARC?  Three public standards every mail provider</a:t>
            </a:r>
          </a:p>
          <a:p>
            <a:r>
              <a:t>  already uses to check a sender is genuine. We read the result — we do not</a:t>
            </a:r>
          </a:p>
          <a:p>
            <a:r>
              <a:t>  invent it.</a:t>
            </a:r>
          </a:p>
          <a:p>
            <a:r>
              <a:t>- Where is the blockchain?  In the evidence chain — the fingerprint of every</a:t>
            </a:r>
          </a:p>
          <a:p>
            <a:r>
              <a:t>  step is anchored so the record cannot be rewritten.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— FEASIBILITY AND VIABILITY          [ about 25 seconds ]</a:t>
            </a:r>
          </a:p>
          <a:p/>
          <a:p>
            <a:r>
              <a:t>"Can this actually be built? Yes — because we are not inventing anything new.</a:t>
            </a:r>
          </a:p>
          <a:p>
            <a:r>
              <a:t>SPF, DKIM and DMARC are world standards that Gmail and Outlook already use.</a:t>
            </a:r>
          </a:p>
          <a:p>
            <a:r>
              <a:t>Domain and server records are public. The AI is off-the-shelf, kept on a short</a:t>
            </a:r>
          </a:p>
          <a:p>
            <a:r>
              <a:t>leash.</a:t>
            </a:r>
          </a:p>
          <a:p/>
          <a:p>
            <a:r>
              <a:t>The picture on the left is why it scales. We deliberately split the work in two.</a:t>
            </a:r>
          </a:p>
          <a:p/>
          <a:p>
            <a:r>
              <a:t>Part one is the fact checks — instant, no internet needed, under two seconds.</a:t>
            </a:r>
          </a:p>
          <a:p>
            <a:r>
              <a:t>Part two is the extra detail: the lookups and the AI. That runs in the</a:t>
            </a:r>
          </a:p>
          <a:p>
            <a:r>
              <a:t>background and is ALLOWED to fail. If it fails, we simply say the data was</a:t>
            </a:r>
          </a:p>
          <a:p>
            <a:r>
              <a:t>incomplete. The answer still stands.</a:t>
            </a:r>
          </a:p>
          <a:p/>
          <a:p>
            <a:r>
              <a:t>That split is also why it is cheap to run — the costly AI part runs rarely, and</a:t>
            </a:r>
          </a:p>
          <a:p>
            <a:r>
              <a:t>never on the main path.</a:t>
            </a:r>
          </a:p>
          <a:p/>
          <a:p>
            <a:r>
              <a:t>And deployment is ready today: Vercel, Docker, PostgreSQL, Sentry. All standard,</a:t>
            </a:r>
          </a:p>
          <a:p>
            <a:r>
              <a:t>all proven."</a:t>
            </a:r>
          </a:p>
          <a:p/>
          <a:p>
            <a:r>
              <a:t>IF A JUDGE ASKS</a:t>
            </a:r>
          </a:p>
          <a:p>
            <a:r>
              <a:t>- What will it cost to run?  The AI only runs in part two, on a fraction of each</a:t>
            </a:r>
          </a:p>
          <a:p>
            <a:r>
              <a:t>  case, so cost grows with detail — not with the number of emails.</a:t>
            </a:r>
          </a:p>
          <a:p>
            <a:r>
              <a:t>- What is your biggest risk?  If the attacker sent it through a big provider</a:t>
            </a:r>
          </a:p>
          <a:p>
            <a:r>
              <a:t>  like Gmail, the true origin is hidden. We say so honestly instead of guessing.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— IMPACT AND BENEFITS          [ about 30 seconds ]</a:t>
            </a:r>
          </a:p>
          <a:p/>
          <a:p>
            <a:r>
              <a:t>"What difference does it make?</a:t>
            </a:r>
          </a:p>
          <a:p/>
          <a:p>
            <a:r>
              <a:t>Remember our analyst with forty emails in the queue. Today, for each one, they</a:t>
            </a:r>
          </a:p>
          <a:p>
            <a:r>
              <a:t>read the hidden code by hand, look up the domain, check the server's history,</a:t>
            </a:r>
          </a:p>
          <a:p>
            <a:r>
              <a:t>hunt through old cases, and type the report. About an hour, for a single email.</a:t>
            </a:r>
          </a:p>
          <a:p/>
          <a:p>
            <a:r>
              <a:t>With Headwaters that becomes about a minute — and just as important, the SAME</a:t>
            </a:r>
          </a:p>
          <a:p>
            <a:r>
              <a:t>ANSWER EVERY TIME, no matter who is on duty.</a:t>
            </a:r>
          </a:p>
          <a:p/>
          <a:p>
            <a:r>
              <a:t>On the right is how we compare with the email filters people already have. They</a:t>
            </a:r>
          </a:p>
          <a:p>
            <a:r>
              <a:t>block known attacks well. But they do not explain why, they do not show where it</a:t>
            </a:r>
          </a:p>
          <a:p>
            <a:r>
              <a:t>came from, they do not link related attacks, and they do not give proof that</a:t>
            </a:r>
          </a:p>
          <a:p>
            <a:r>
              <a:t>stands up later. We do all four.</a:t>
            </a:r>
          </a:p>
          <a:p/>
          <a:p>
            <a:r>
              <a:t>This matters for banks, government departments, colleges, and any security team.</a:t>
            </a:r>
          </a:p>
          <a:p>
            <a:r>
              <a:t>And because the proof is locked, the findings can support a real investigation."</a:t>
            </a:r>
          </a:p>
          <a:p/>
          <a:p>
            <a:r>
              <a:t>IF A JUDGE ASKS</a:t>
            </a:r>
          </a:p>
          <a:p>
            <a:r>
              <a:t>- Are you replacing their existing filter?  No. We sit beside it. It blocks;</a:t>
            </a:r>
          </a:p>
          <a:p>
            <a:r>
              <a:t>  we explain what got through.</a:t>
            </a:r>
          </a:p>
          <a:p>
            <a:r>
              <a:t>- How much time is saved?  About an hour down to about a minute per email —</a:t>
            </a:r>
          </a:p>
          <a:p>
            <a:r>
              <a:t>  plus consistency between analysts, often the bigger win.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— RESEARCH AND REFERENCES          [ about 20 seconds ]</a:t>
            </a:r>
          </a:p>
          <a:p/>
          <a:p>
            <a:r>
              <a:t>"Finally, credibility.</a:t>
            </a:r>
          </a:p>
          <a:p/>
          <a:p>
            <a:r>
              <a:t>We build on MITRE ATT&amp;CK — the world's standard catalogue of attack methods. On</a:t>
            </a:r>
          </a:p>
          <a:p>
            <a:r>
              <a:t>the NIST guide for handling digital evidence. And on the published internet</a:t>
            </a:r>
          </a:p>
          <a:p>
            <a:r>
              <a:t>standards for email.</a:t>
            </a:r>
          </a:p>
          <a:p/>
          <a:p>
            <a:r>
              <a:t>And we are honest about where we sit. We are not replacing Microsoft Defender or</a:t>
            </a:r>
          </a:p>
          <a:p>
            <a:r>
              <a:t>Proofpoint. Those tools decide what to BLOCK. We explain what got THROUGH — we</a:t>
            </a:r>
          </a:p>
          <a:p>
            <a:r>
              <a:t>show where it came from, and we give the analyst proof they can stand behind.</a:t>
            </a:r>
          </a:p>
          <a:p/>
          <a:p>
            <a:r>
              <a:t>That is Headwaters. Thank you — we are happy to take questions."</a:t>
            </a:r>
          </a:p>
          <a:p/>
          <a:p>
            <a:r>
              <a:t>IF A JUDGE ASKS</a:t>
            </a:r>
          </a:p>
          <a:p>
            <a:r>
              <a:t>- What is left to build?  The engine and the claim rules are designed and</a:t>
            </a:r>
          </a:p>
          <a:p>
            <a:r>
              <a:t>  documented. The remaining work is the dashboard polish and the browser</a:t>
            </a:r>
          </a:p>
          <a:p>
            <a:r>
              <a:t>  extension.</a:t>
            </a:r>
          </a:p>
          <a:p>
            <a:r>
              <a:t>- Is this original?  The individual checks are standards. What is new is putting</a:t>
            </a:r>
          </a:p>
          <a:p>
            <a:r>
              <a:t>  explainable scoring, source tracing and locked evidence in one analyst tool.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41879" y="189991"/>
            <a:ext cx="750824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6394" y="1563750"/>
            <a:ext cx="10777220" cy="4318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000" b="1">
                <a:solidFill>
                  <a:srgbClr val="0B2A47"/>
                </a:solidFill>
                <a:latin typeface="Times New Roman"/>
              </a:rPr>
              <a:t>SMART INDIA HACKATHON 2025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874519" cy="603504"/>
          </a:xfrm>
          <a:prstGeom prst="roundRect">
            <a:avLst>
              <a:gd name="adj" fmla="val 14000"/>
            </a:avLst>
          </a:prstGeom>
          <a:solidFill>
            <a:srgbClr val="0B1728"/>
          </a:solidFill>
          <a:ln w="15875">
            <a:solidFill>
              <a:srgbClr val="0EA5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20">
                <a:solidFill>
                  <a:srgbClr val="FFFFFF"/>
                </a:solidFill>
                <a:latin typeface="Arial"/>
              </a:rPr>
              <a:t>HEADWATERS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6376" y="117043"/>
            <a:ext cx="2159812" cy="100108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3891"/>
            <a:ext cx="12191969" cy="504017"/>
          </a:xfrm>
          <a:prstGeom prst="rect">
            <a:avLst/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@ Team Headwaters   ·   PS26106   ·   Smart India Hackathon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6129" y="6353891"/>
            <a:ext cx="658368" cy="5040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188720"/>
            <a:ext cx="5120640" cy="1170432"/>
          </a:xfrm>
          <a:prstGeom prst="roundRect">
            <a:avLst>
              <a:gd name="adj" fmla="val 6000"/>
            </a:avLst>
          </a:prstGeom>
          <a:solidFill>
            <a:srgbClr val="0B1728"/>
          </a:solidFill>
          <a:ln w="15875">
            <a:solidFill>
              <a:srgbClr val="0EA5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 spc="400">
                <a:solidFill>
                  <a:srgbClr val="FFFFFF"/>
                </a:solidFill>
                <a:latin typeface="Arial"/>
              </a:rPr>
              <a:t>HEADWATERS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67E8F9"/>
                </a:solidFill>
                <a:latin typeface="Arial"/>
              </a:rPr>
              <a:t>Find out whether an email is an attack —
and prove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2487168"/>
            <a:ext cx="5120640" cy="3017520"/>
          </a:xfrm>
          <a:prstGeom prst="roundRect">
            <a:avLst>
              <a:gd name="adj" fmla="val 5000"/>
            </a:avLst>
          </a:prstGeom>
          <a:solidFill>
            <a:srgbClr val="F4F9FD"/>
          </a:solidFill>
          <a:ln w="12700">
            <a:solidFill>
              <a:srgbClr val="C9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0040" y="2487168"/>
            <a:ext cx="5120640" cy="329184"/>
          </a:xfrm>
          <a:prstGeom prst="roundRect">
            <a:avLst>
              <a:gd name="adj" fmla="val 10000"/>
            </a:avLst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FFFFFF"/>
                </a:solidFill>
                <a:latin typeface="Arial"/>
              </a:rPr>
              <a:t>TITLE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962656"/>
            <a:ext cx="4718304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000" b="1" i="0">
                <a:solidFill>
                  <a:srgbClr val="0B2A47"/>
                </a:solidFill>
                <a:latin typeface="Arial"/>
              </a:rPr>
              <a:t>●  </a:t>
            </a:r>
            <a:r>
              <a:rPr sz="1200" b="1" i="0">
                <a:solidFill>
                  <a:srgbClr val="0B2A47"/>
                </a:solidFill>
                <a:latin typeface="Arial"/>
              </a:rPr>
              <a:t>Problem Statement ID</a:t>
            </a:r>
            <a:r>
              <a:rPr sz="1200" b="1" i="0">
                <a:solidFill>
                  <a:srgbClr val="0B2A47"/>
                </a:solidFill>
                <a:latin typeface="Arial"/>
              </a:rPr>
              <a:t> – </a:t>
            </a:r>
            <a:r>
              <a:rPr sz="1200" b="1" i="0">
                <a:solidFill>
                  <a:srgbClr val="006FC0"/>
                </a:solidFill>
                <a:latin typeface="Arial"/>
              </a:rPr>
              <a:t>PS26106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000" b="1" i="0">
                <a:solidFill>
                  <a:srgbClr val="0B2A47"/>
                </a:solidFill>
                <a:latin typeface="Arial"/>
              </a:rPr>
              <a:t>●  </a:t>
            </a:r>
            <a:r>
              <a:rPr sz="1200" b="1" i="0">
                <a:solidFill>
                  <a:srgbClr val="0B2A47"/>
                </a:solidFill>
                <a:latin typeface="Arial"/>
              </a:rPr>
              <a:t>Problem Statement Title</a:t>
            </a:r>
            <a:r>
              <a:rPr sz="1200" b="1" i="0">
                <a:solidFill>
                  <a:srgbClr val="0B2A47"/>
                </a:solidFill>
                <a:latin typeface="Arial"/>
              </a:rPr>
              <a:t> – </a:t>
            </a:r>
            <a:r>
              <a:rPr sz="1200" b="1" i="0">
                <a:solidFill>
                  <a:srgbClr val="16A34A"/>
                </a:solidFill>
                <a:latin typeface="Arial"/>
              </a:rPr>
              <a:t>AI-Powered Email Threat Detection, GeoLocation and Forensic Intelligence Platform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000" b="1" i="0">
                <a:solidFill>
                  <a:srgbClr val="0B2A47"/>
                </a:solidFill>
                <a:latin typeface="Arial"/>
              </a:rPr>
              <a:t>●  </a:t>
            </a:r>
            <a:r>
              <a:rPr sz="1200" b="1" i="0">
                <a:solidFill>
                  <a:srgbClr val="0B2A47"/>
                </a:solidFill>
                <a:latin typeface="Arial"/>
              </a:rPr>
              <a:t>Theme</a:t>
            </a:r>
            <a:r>
              <a:rPr sz="1200" b="1" i="0">
                <a:solidFill>
                  <a:srgbClr val="0B2A47"/>
                </a:solidFill>
                <a:latin typeface="Arial"/>
              </a:rPr>
              <a:t> – </a:t>
            </a:r>
            <a:r>
              <a:rPr sz="1200" b="1" i="0">
                <a:solidFill>
                  <a:srgbClr val="16A34A"/>
                </a:solidFill>
                <a:latin typeface="Arial"/>
              </a:rPr>
              <a:t>Blockchain &amp; Cybersecurity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000" b="1" i="0">
                <a:solidFill>
                  <a:srgbClr val="0B2A47"/>
                </a:solidFill>
                <a:latin typeface="Arial"/>
              </a:rPr>
              <a:t>●  </a:t>
            </a:r>
            <a:r>
              <a:rPr sz="1200" b="1" i="0">
                <a:solidFill>
                  <a:srgbClr val="0B2A47"/>
                </a:solidFill>
                <a:latin typeface="Arial"/>
              </a:rPr>
              <a:t>PS Category</a:t>
            </a:r>
            <a:r>
              <a:rPr sz="1200" b="1" i="0">
                <a:solidFill>
                  <a:srgbClr val="0B2A47"/>
                </a:solidFill>
                <a:latin typeface="Arial"/>
              </a:rPr>
              <a:t> – </a:t>
            </a:r>
            <a:r>
              <a:rPr sz="1200" b="1" i="0">
                <a:solidFill>
                  <a:srgbClr val="16A34A"/>
                </a:solidFill>
                <a:latin typeface="Arial"/>
              </a:rPr>
              <a:t>Software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000" b="1" i="0">
                <a:solidFill>
                  <a:srgbClr val="0B2A47"/>
                </a:solidFill>
                <a:latin typeface="Arial"/>
              </a:rPr>
              <a:t>●  </a:t>
            </a:r>
            <a:r>
              <a:rPr sz="1200" b="1" i="0">
                <a:solidFill>
                  <a:srgbClr val="0B2A47"/>
                </a:solidFill>
                <a:latin typeface="Arial"/>
              </a:rPr>
              <a:t>Team ID</a:t>
            </a:r>
            <a:r>
              <a:rPr sz="1200" b="1" i="0">
                <a:solidFill>
                  <a:srgbClr val="0B2A47"/>
                </a:solidFill>
                <a:latin typeface="Arial"/>
              </a:rPr>
              <a:t> – </a:t>
            </a:r>
            <a:r>
              <a:rPr sz="1200" b="1" i="0">
                <a:solidFill>
                  <a:srgbClr val="006FC0"/>
                </a:solidFill>
                <a:latin typeface="Arial"/>
              </a:rPr>
              <a:t>&lt; Team ID &gt;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000" b="1" i="0">
                <a:solidFill>
                  <a:srgbClr val="0B2A47"/>
                </a:solidFill>
                <a:latin typeface="Arial"/>
              </a:rPr>
              <a:t>●  </a:t>
            </a:r>
            <a:r>
              <a:rPr sz="1200" b="1" i="0">
                <a:solidFill>
                  <a:srgbClr val="0B2A47"/>
                </a:solidFill>
                <a:latin typeface="Arial"/>
              </a:rPr>
              <a:t>Team Name</a:t>
            </a:r>
            <a:r>
              <a:rPr sz="1200" b="1" i="0">
                <a:solidFill>
                  <a:srgbClr val="0B2A47"/>
                </a:solidFill>
                <a:latin typeface="Arial"/>
              </a:rPr>
              <a:t> – </a:t>
            </a:r>
            <a:r>
              <a:rPr sz="1200" b="1" i="0">
                <a:solidFill>
                  <a:srgbClr val="16A34A"/>
                </a:solidFill>
                <a:latin typeface="Arial"/>
              </a:rPr>
              <a:t>&lt; Team Name 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614416"/>
            <a:ext cx="5120640" cy="493776"/>
          </a:xfrm>
          <a:prstGeom prst="roundRect">
            <a:avLst>
              <a:gd name="adj" fmla="val 10000"/>
            </a:avLst>
          </a:prstGeom>
          <a:solidFill>
            <a:srgbClr val="0B1728"/>
          </a:solidFill>
          <a:ln w="15875">
            <a:solidFill>
              <a:srgbClr val="0EA5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Code checks the facts.  </a:t>
            </a:r>
            <a:r>
              <a:rPr sz="1050" b="1" i="0">
                <a:solidFill>
                  <a:srgbClr val="67E8F9"/>
                </a:solidFill>
                <a:latin typeface="Arial"/>
              </a:rPr>
              <a:t>The AI only explains them.</a:t>
            </a:r>
          </a:p>
        </p:txBody>
      </p:sp>
      <p:pic>
        <p:nvPicPr>
          <p:cNvPr id="12" name="Picture 11" descr="d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188720"/>
            <a:ext cx="6172200" cy="49230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000" b="1">
                <a:solidFill>
                  <a:srgbClr val="0B2A47"/>
                </a:solidFill>
                <a:latin typeface="Times New Roman"/>
              </a:rPr>
              <a:t>PROBLEM  AND  PROPOSED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874519" cy="603504"/>
          </a:xfrm>
          <a:prstGeom prst="roundRect">
            <a:avLst>
              <a:gd name="adj" fmla="val 14000"/>
            </a:avLst>
          </a:prstGeom>
          <a:solidFill>
            <a:srgbClr val="0B1728"/>
          </a:solidFill>
          <a:ln w="15875">
            <a:solidFill>
              <a:srgbClr val="0EA5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20">
                <a:solidFill>
                  <a:srgbClr val="FFFFFF"/>
                </a:solidFill>
                <a:latin typeface="Arial"/>
              </a:rPr>
              <a:t>HEADWATERS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6376" y="117043"/>
            <a:ext cx="2159812" cy="100108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3891"/>
            <a:ext cx="12191969" cy="504017"/>
          </a:xfrm>
          <a:prstGeom prst="rect">
            <a:avLst/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@ Team Headwaters   ·   PS26106   ·   Smart India Hackathon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6129" y="6353891"/>
            <a:ext cx="658368" cy="5040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60704"/>
            <a:ext cx="11548872" cy="1481328"/>
          </a:xfrm>
          <a:prstGeom prst="roundRect">
            <a:avLst>
              <a:gd name="adj" fmla="val 5000"/>
            </a:avLst>
          </a:prstGeom>
          <a:solidFill>
            <a:srgbClr val="F4F9FD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1060704"/>
            <a:ext cx="11548872" cy="310896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FFFFFF"/>
                </a:solidFill>
                <a:latin typeface="Arial"/>
              </a:rP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81328"/>
            <a:ext cx="11183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A47"/>
                </a:solidFill>
                <a:latin typeface="Arial"/>
              </a:rPr>
              <a:t>Email is still how most attacks arrive — fake invoices, fake bosses, fake login pages. </a:t>
            </a:r>
            <a:r>
              <a:rPr sz="1150" b="0" i="0">
                <a:solidFill>
                  <a:srgbClr val="33455A"/>
                </a:solidFill>
                <a:latin typeface="Arial"/>
              </a:rPr>
              <a:t>And every email an employee reports has to be checked by a person.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773936"/>
            <a:ext cx="4892040" cy="731520"/>
          </a:xfrm>
          <a:prstGeom prst="roundRect">
            <a:avLst>
              <a:gd name="adj" fmla="val 10000"/>
            </a:avLst>
          </a:prstGeom>
          <a:solidFill>
            <a:srgbClr val="FDEEEE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46177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1" i="0" spc="80">
                <a:solidFill>
                  <a:srgbClr val="DC2626"/>
                </a:solidFill>
                <a:latin typeface="Arial"/>
              </a:rPr>
              <a:t>THE PERSON DOING THIS JOB TODAY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19" b="0" i="0">
                <a:solidFill>
                  <a:srgbClr val="33455A"/>
                </a:solidFill>
                <a:latin typeface="Arial"/>
              </a:rPr>
              <a:t>A security analyst — two to five of them in a bank, a university IT team, a government CERT or a cybercrime cell.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B2A47"/>
                </a:solidFill>
                <a:latin typeface="Arial"/>
              </a:rPr>
              <a:t>Today's queue: about 40 reported emails, roughly an hour on each.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792224"/>
            <a:ext cx="5989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DC2626"/>
                </a:solidFill>
                <a:latin typeface="Arial"/>
              </a:rPr>
              <a:t>▪  </a:t>
            </a:r>
            <a:r>
              <a:rPr sz="940" b="0" i="0">
                <a:solidFill>
                  <a:srgbClr val="33455A"/>
                </a:solidFill>
                <a:latin typeface="Arial"/>
              </a:rPr>
              <a:t>Old filters miss new attacks — and never explain the ones they let through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DC2626"/>
                </a:solidFill>
                <a:latin typeface="Arial"/>
              </a:rPr>
              <a:t>▪  </a:t>
            </a:r>
            <a:r>
              <a:rPr sz="940" b="0" i="0">
                <a:solidFill>
                  <a:srgbClr val="33455A"/>
                </a:solidFill>
                <a:latin typeface="Arial"/>
              </a:rPr>
              <a:t>Attackers now write with AI, and copy real company names and logos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DC2626"/>
                </a:solidFill>
                <a:latin typeface="Arial"/>
              </a:rPr>
              <a:t>▪  </a:t>
            </a:r>
            <a:r>
              <a:rPr sz="940" b="0" i="0">
                <a:solidFill>
                  <a:srgbClr val="33455A"/>
                </a:solidFill>
                <a:latin typeface="Arial"/>
              </a:rPr>
              <a:t>Two analysts often reach two different answers on the same email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DC2626"/>
                </a:solidFill>
                <a:latin typeface="Arial"/>
              </a:rPr>
              <a:t>▪  </a:t>
            </a:r>
            <a:r>
              <a:rPr sz="940" b="0" i="0">
                <a:solidFill>
                  <a:srgbClr val="33455A"/>
                </a:solidFill>
                <a:latin typeface="Arial"/>
              </a:rPr>
              <a:t>The proof is not preserved, so it cannot be handed over later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2651760"/>
            <a:ext cx="11548872" cy="329184"/>
          </a:xfrm>
          <a:prstGeom prst="roundRect">
            <a:avLst>
              <a:gd name="adj" fmla="val 1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40">
                <a:solidFill>
                  <a:srgbClr val="FFFFFF"/>
                </a:solidFill>
                <a:latin typeface="Arial"/>
              </a:rPr>
              <a:t>OUR SOLUTION  —  HEADWATERS does that hour of work in about a minute, and proves it</a:t>
            </a:r>
          </a:p>
        </p:txBody>
      </p:sp>
      <p:pic>
        <p:nvPicPr>
          <p:cNvPr id="14" name="Picture 13" descr="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090672"/>
            <a:ext cx="10607040" cy="153802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20040" y="4828032"/>
            <a:ext cx="11548872" cy="310896"/>
          </a:xfrm>
          <a:prstGeom prst="roundRect">
            <a:avLst>
              <a:gd name="adj" fmla="val 10000"/>
            </a:avLst>
          </a:prstGeom>
          <a:solidFill>
            <a:srgbClr val="0B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00">
                <a:solidFill>
                  <a:srgbClr val="FFFFFF"/>
                </a:solidFill>
                <a:latin typeface="Arial"/>
              </a:rPr>
              <a:t>INNOVATION  &amp;  UNIQUENESS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5248656"/>
            <a:ext cx="2750058" cy="969264"/>
          </a:xfrm>
          <a:prstGeom prst="roundRect">
            <a:avLst>
              <a:gd name="adj" fmla="val 6000"/>
            </a:avLst>
          </a:prstGeom>
          <a:solidFill>
            <a:srgbClr val="F4F9FD"/>
          </a:solidFill>
          <a:ln w="15875">
            <a:solidFill>
              <a:srgbClr val="0EA5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" y="5358384"/>
            <a:ext cx="245745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1" i="0" spc="40">
                <a:solidFill>
                  <a:srgbClr val="0EA5B7"/>
                </a:solidFill>
                <a:latin typeface="Arial"/>
              </a:rPr>
              <a:t>EVERY SCORE HAS A REASON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 i="0">
                <a:solidFill>
                  <a:srgbClr val="33455A"/>
                </a:solidFill>
                <a:latin typeface="Arial"/>
              </a:rPr>
              <a:t>We never say “the AI thinks it is bad”. Each point of the risk score comes from a rule you can read. The AI is allowed to add only 12 of the 100 points.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52978" y="5248656"/>
            <a:ext cx="2750058" cy="969264"/>
          </a:xfrm>
          <a:prstGeom prst="roundRect">
            <a:avLst>
              <a:gd name="adj" fmla="val 6000"/>
            </a:avLst>
          </a:prstGeom>
          <a:solidFill>
            <a:srgbClr val="F4F9FD"/>
          </a:solidFill>
          <a:ln w="15875">
            <a:solidFill>
              <a:srgbClr val="006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99282" y="5358384"/>
            <a:ext cx="245745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1" i="0" spc="40">
                <a:solidFill>
                  <a:srgbClr val="006FC0"/>
                </a:solidFill>
                <a:latin typeface="Arial"/>
              </a:rPr>
              <a:t>WE CLAIM ONLY WHAT WE CAN PROVE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 i="0">
                <a:solidFill>
                  <a:srgbClr val="33455A"/>
                </a:solidFill>
                <a:latin typeface="Arial"/>
              </a:rPr>
              <a:t>We show the server the email most likely came from, and how sure we are. We never claim to know the attacker's city or name. We give leads, not accusations.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5916" y="5248656"/>
            <a:ext cx="2750058" cy="969264"/>
          </a:xfrm>
          <a:prstGeom prst="roundRect">
            <a:avLst>
              <a:gd name="adj" fmla="val 6000"/>
            </a:avLst>
          </a:prstGeom>
          <a:solidFill>
            <a:srgbClr val="F4F9FD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2220" y="5358384"/>
            <a:ext cx="245745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1" i="0" spc="40">
                <a:solidFill>
                  <a:srgbClr val="D97706"/>
                </a:solidFill>
                <a:latin typeface="Arial"/>
              </a:rPr>
              <a:t>WORKS WITHOUT INTERNET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 i="0">
                <a:solidFill>
                  <a:srgbClr val="33455A"/>
                </a:solidFill>
                <a:latin typeface="Arial"/>
              </a:rPr>
              <a:t>The main checks need no outside lookups at all. Pull the network cable and it still gives a full answer. The extra lookups only add detail.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18854" y="5248656"/>
            <a:ext cx="2750058" cy="969264"/>
          </a:xfrm>
          <a:prstGeom prst="roundRect">
            <a:avLst>
              <a:gd name="adj" fmla="val 6000"/>
            </a:avLst>
          </a:prstGeom>
          <a:solidFill>
            <a:srgbClr val="F4F9FD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5158" y="5358384"/>
            <a:ext cx="245745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1" i="0" spc="40">
                <a:solidFill>
                  <a:srgbClr val="16A34A"/>
                </a:solidFill>
                <a:latin typeface="Arial"/>
              </a:rPr>
              <a:t>PROOF NOBODY CAN EDIT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 i="0">
                <a:solidFill>
                  <a:srgbClr val="33455A"/>
                </a:solidFill>
                <a:latin typeface="Arial"/>
              </a:rPr>
              <a:t>Every step is locked with a digital fingerprint and anchored on a blockchain, so the evidence cannot be quietly changed afterwards.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000" b="1">
                <a:solidFill>
                  <a:srgbClr val="0B2A47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874519" cy="603504"/>
          </a:xfrm>
          <a:prstGeom prst="roundRect">
            <a:avLst>
              <a:gd name="adj" fmla="val 14000"/>
            </a:avLst>
          </a:prstGeom>
          <a:solidFill>
            <a:srgbClr val="0B1728"/>
          </a:solidFill>
          <a:ln w="15875">
            <a:solidFill>
              <a:srgbClr val="0EA5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20">
                <a:solidFill>
                  <a:srgbClr val="FFFFFF"/>
                </a:solidFill>
                <a:latin typeface="Arial"/>
              </a:rPr>
              <a:t>HEADWATERS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6376" y="117043"/>
            <a:ext cx="2159812" cy="100108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3891"/>
            <a:ext cx="12191969" cy="504017"/>
          </a:xfrm>
          <a:prstGeom prst="rect">
            <a:avLst/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@ Team Headwaters   ·   PS26106   ·   Smart India Hackathon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6129" y="6353891"/>
            <a:ext cx="658368" cy="5040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42415"/>
            <a:ext cx="3529584" cy="457200"/>
          </a:xfrm>
          <a:prstGeom prst="roundRect">
            <a:avLst>
              <a:gd name="adj" fmla="val 12000"/>
            </a:avLst>
          </a:prstGeom>
          <a:solidFill>
            <a:srgbClr val="0B1728"/>
          </a:solidFill>
          <a:ln w="13970">
            <a:solidFill>
              <a:srgbClr val="0EA5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30">
                <a:solidFill>
                  <a:srgbClr val="FFFFFF"/>
                </a:solidFill>
                <a:latin typeface="Arial"/>
              </a:rPr>
              <a:t>EMPLOYEE OR ANALYST SENDS IT IN  ·  ONE CLICK, OR UPLOAD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4528" y="1042415"/>
            <a:ext cx="3529584" cy="457200"/>
          </a:xfrm>
          <a:prstGeom prst="roundRect">
            <a:avLst>
              <a:gd name="adj" fmla="val 12000"/>
            </a:avLst>
          </a:prstGeom>
          <a:solidFill>
            <a:srgbClr val="0B1728"/>
          </a:solidFill>
          <a:ln w="13970">
            <a:solidFill>
              <a:srgbClr val="0EA5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30">
                <a:solidFill>
                  <a:srgbClr val="FFFFFF"/>
                </a:solidFill>
                <a:latin typeface="Arial"/>
              </a:rPr>
              <a:t>OPENED SAFELY  +  FINGERPRINTED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9016" y="1042415"/>
            <a:ext cx="3739896" cy="457200"/>
          </a:xfrm>
          <a:prstGeom prst="roundRect">
            <a:avLst>
              <a:gd name="adj" fmla="val 12000"/>
            </a:avLst>
          </a:prstGeom>
          <a:solidFill>
            <a:srgbClr val="006FC0"/>
          </a:solidFill>
          <a:ln w="13970">
            <a:solidFill>
              <a:srgbClr val="006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30">
                <a:solidFill>
                  <a:srgbClr val="FFFFFF"/>
                </a:solidFill>
                <a:latin typeface="Arial"/>
              </a:rPr>
              <a:t>ANALYSIS ENGINE  —  TWO PARTS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877056" y="1152144"/>
            <a:ext cx="256032" cy="237744"/>
          </a:xfrm>
          <a:prstGeom prst="rightArrow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7781544" y="1152144"/>
            <a:ext cx="256032" cy="237744"/>
          </a:xfrm>
          <a:prstGeom prst="rightArrow">
            <a:avLst/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0040" y="1645920"/>
            <a:ext cx="2756916" cy="1920240"/>
          </a:xfrm>
          <a:prstGeom prst="roundRect">
            <a:avLst>
              <a:gd name="adj" fmla="val 5000"/>
            </a:avLst>
          </a:prstGeom>
          <a:solidFill>
            <a:srgbClr val="F4F9FD"/>
          </a:solidFill>
          <a:ln w="15875">
            <a:solidFill>
              <a:srgbClr val="0EA5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040" y="1645920"/>
            <a:ext cx="2756916" cy="329184"/>
          </a:xfrm>
          <a:prstGeom prst="roundRect">
            <a:avLst>
              <a:gd name="adj" fmla="val 10000"/>
            </a:avLst>
          </a:prstGeom>
          <a:solidFill>
            <a:srgbClr val="0EA5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 spc="30">
                <a:solidFill>
                  <a:srgbClr val="FFFFFF"/>
                </a:solidFill>
                <a:latin typeface="Arial"/>
              </a:rPr>
              <a:t>1   CHECK THE SENDER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" y="2048256"/>
            <a:ext cx="25008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 spc="60">
                <a:solidFill>
                  <a:srgbClr val="0EA5B7"/>
                </a:solidFill>
                <a:latin typeface="Arial"/>
              </a:rPr>
              <a:t>PART 1  ·  FACT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" y="2267712"/>
            <a:ext cx="2500884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0EA5B7"/>
                </a:solidFill>
                <a:latin typeface="Arial"/>
              </a:rPr>
              <a:t>▪  </a:t>
            </a:r>
            <a:r>
              <a:rPr sz="900" b="0" i="0">
                <a:solidFill>
                  <a:srgbClr val="33455A"/>
                </a:solidFill>
                <a:latin typeface="Arial"/>
              </a:rPr>
              <a:t>Reads the email's hidden delivery record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0EA5B7"/>
                </a:solidFill>
                <a:latin typeface="Arial"/>
              </a:rPr>
              <a:t>▪  </a:t>
            </a:r>
            <a:r>
              <a:rPr sz="900" b="0" i="0">
                <a:solidFill>
                  <a:srgbClr val="33455A"/>
                </a:solidFill>
                <a:latin typeface="Arial"/>
              </a:rPr>
              <a:t>Checks SPF, DKIM and DMARC — the ID proofs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0EA5B7"/>
                </a:solidFill>
                <a:latin typeface="Arial"/>
              </a:rPr>
              <a:t>▪  </a:t>
            </a:r>
            <a:r>
              <a:rPr sz="900" b="0" i="0">
                <a:solidFill>
                  <a:srgbClr val="33455A"/>
                </a:solidFill>
                <a:latin typeface="Arial"/>
              </a:rPr>
              <a:t>Spots fake sender names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0EA5B7"/>
                </a:solidFill>
                <a:latin typeface="Arial"/>
              </a:rPr>
              <a:t>▪  </a:t>
            </a:r>
            <a:r>
              <a:rPr sz="900" b="0" i="0">
                <a:solidFill>
                  <a:srgbClr val="33455A"/>
                </a:solidFill>
                <a:latin typeface="Arial"/>
              </a:rPr>
              <a:t>Pulls out every link and attachment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50692" y="1645920"/>
            <a:ext cx="2756916" cy="1920240"/>
          </a:xfrm>
          <a:prstGeom prst="roundRect">
            <a:avLst>
              <a:gd name="adj" fmla="val 5000"/>
            </a:avLst>
          </a:prstGeom>
          <a:solidFill>
            <a:srgbClr val="F4F9FD"/>
          </a:solidFill>
          <a:ln w="15875">
            <a:solidFill>
              <a:srgbClr val="006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50692" y="1645920"/>
            <a:ext cx="2756916" cy="329184"/>
          </a:xfrm>
          <a:prstGeom prst="roundRect">
            <a:avLst>
              <a:gd name="adj" fmla="val 10000"/>
            </a:avLst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 spc="30">
                <a:solidFill>
                  <a:srgbClr val="FFFFFF"/>
                </a:solidFill>
                <a:latin typeface="Arial"/>
              </a:rPr>
              <a:t>2   CHECK THE 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78708" y="2048256"/>
            <a:ext cx="25008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 spc="60">
                <a:solidFill>
                  <a:srgbClr val="006FC0"/>
                </a:solidFill>
                <a:latin typeface="Arial"/>
              </a:rPr>
              <a:t>PART 2  ·  EXTRA DETAIL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78708" y="2267712"/>
            <a:ext cx="2500884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006FC0"/>
                </a:solidFill>
                <a:latin typeface="Arial"/>
              </a:rPr>
              <a:t>▪  </a:t>
            </a:r>
            <a:r>
              <a:rPr sz="900" b="0" i="0">
                <a:solidFill>
                  <a:srgbClr val="33455A"/>
                </a:solidFill>
                <a:latin typeface="Arial"/>
              </a:rPr>
              <a:t>How old the domain is, and who owns 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006FC0"/>
                </a:solidFill>
                <a:latin typeface="Arial"/>
              </a:rPr>
              <a:t>▪  </a:t>
            </a:r>
            <a:r>
              <a:rPr sz="900" b="0" i="0">
                <a:solidFill>
                  <a:srgbClr val="33455A"/>
                </a:solidFill>
                <a:latin typeface="Arial"/>
              </a:rPr>
              <a:t>Whether the server is known for attacks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006FC0"/>
                </a:solidFill>
                <a:latin typeface="Arial"/>
              </a:rPr>
              <a:t>▪  </a:t>
            </a:r>
            <a:r>
              <a:rPr sz="900" b="0" i="0">
                <a:solidFill>
                  <a:srgbClr val="33455A"/>
                </a:solidFill>
                <a:latin typeface="Arial"/>
              </a:rPr>
              <a:t>Which network and country it sits 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006FC0"/>
                </a:solidFill>
                <a:latin typeface="Arial"/>
              </a:rPr>
              <a:t>▪  </a:t>
            </a:r>
            <a:r>
              <a:rPr sz="900" b="0" i="0">
                <a:solidFill>
                  <a:srgbClr val="33455A"/>
                </a:solidFill>
                <a:latin typeface="Arial"/>
              </a:rPr>
              <a:t>Stored offline, so Part 1 never waits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1645920"/>
            <a:ext cx="2756916" cy="1920240"/>
          </a:xfrm>
          <a:prstGeom prst="roundRect">
            <a:avLst>
              <a:gd name="adj" fmla="val 5000"/>
            </a:avLst>
          </a:prstGeom>
          <a:solidFill>
            <a:srgbClr val="F4F9FD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81344" y="1645920"/>
            <a:ext cx="2756916" cy="329184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 spc="30">
                <a:solidFill>
                  <a:srgbClr val="FFFFFF"/>
                </a:solidFill>
                <a:latin typeface="Arial"/>
              </a:rPr>
              <a:t>3   READ THE INTENT  (AI)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2048256"/>
            <a:ext cx="25008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 spc="60">
                <a:solidFill>
                  <a:srgbClr val="7C3AED"/>
                </a:solidFill>
                <a:latin typeface="Arial"/>
              </a:rPr>
              <a:t>PART 2  ·  LIMITED TO 12/100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2267712"/>
            <a:ext cx="2500884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7C3AED"/>
                </a:solidFill>
                <a:latin typeface="Arial"/>
              </a:rPr>
              <a:t>▪  </a:t>
            </a:r>
            <a:r>
              <a:rPr sz="900" b="0" i="0">
                <a:solidFill>
                  <a:srgbClr val="33455A"/>
                </a:solidFill>
                <a:latin typeface="Arial"/>
              </a:rPr>
              <a:t>Spots urgency, fear and money pressure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7C3AED"/>
                </a:solidFill>
                <a:latin typeface="Arial"/>
              </a:rPr>
              <a:t>▪  </a:t>
            </a:r>
            <a:r>
              <a:rPr sz="900" b="0" i="0">
                <a:solidFill>
                  <a:srgbClr val="33455A"/>
                </a:solidFill>
                <a:latin typeface="Arial"/>
              </a:rPr>
              <a:t>Detects fake-boss and fake-invoice requests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7C3AED"/>
                </a:solidFill>
                <a:latin typeface="Arial"/>
              </a:rPr>
              <a:t>▪  </a:t>
            </a:r>
            <a:r>
              <a:rPr sz="900" b="0" i="0">
                <a:solidFill>
                  <a:srgbClr val="33455A"/>
                </a:solidFill>
                <a:latin typeface="Arial"/>
              </a:rPr>
              <a:t>Writes the explanation in plain English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7C3AED"/>
                </a:solidFill>
                <a:latin typeface="Arial"/>
              </a:rPr>
              <a:t>▪  </a:t>
            </a:r>
            <a:r>
              <a:rPr sz="900" b="0" i="0">
                <a:solidFill>
                  <a:srgbClr val="33455A"/>
                </a:solidFill>
                <a:latin typeface="Arial"/>
              </a:rPr>
              <a:t>Never decides the final verdict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11996" y="1645920"/>
            <a:ext cx="2756916" cy="1920240"/>
          </a:xfrm>
          <a:prstGeom prst="roundRect">
            <a:avLst>
              <a:gd name="adj" fmla="val 5000"/>
            </a:avLst>
          </a:prstGeom>
          <a:solidFill>
            <a:srgbClr val="F4F9FD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11996" y="1645920"/>
            <a:ext cx="2756916" cy="329184"/>
          </a:xfrm>
          <a:prstGeom prst="roundRect">
            <a:avLst>
              <a:gd name="adj" fmla="val 1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 spc="30">
                <a:solidFill>
                  <a:srgbClr val="FFFFFF"/>
                </a:solidFill>
                <a:latin typeface="Arial"/>
              </a:rPr>
              <a:t>4   CONNECT THE DOTS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0012" y="2048256"/>
            <a:ext cx="25008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 spc="60">
                <a:solidFill>
                  <a:srgbClr val="16A34A"/>
                </a:solidFill>
                <a:latin typeface="Arial"/>
              </a:rPr>
              <a:t>LINKING RELATED ATTACKS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0012" y="2267712"/>
            <a:ext cx="2500884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16A34A"/>
                </a:solidFill>
                <a:latin typeface="Arial"/>
              </a:rPr>
              <a:t>▪  </a:t>
            </a:r>
            <a:r>
              <a:rPr sz="900" b="0" i="0">
                <a:solidFill>
                  <a:srgbClr val="33455A"/>
                </a:solidFill>
                <a:latin typeface="Arial"/>
              </a:rPr>
              <a:t>Builds a fingerprint of the attack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16A34A"/>
                </a:solidFill>
                <a:latin typeface="Arial"/>
              </a:rPr>
              <a:t>▪  </a:t>
            </a:r>
            <a:r>
              <a:rPr sz="900" b="0" i="0">
                <a:solidFill>
                  <a:srgbClr val="33455A"/>
                </a:solidFill>
                <a:latin typeface="Arial"/>
              </a:rPr>
              <a:t>Links domains, servers and senders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16A34A"/>
                </a:solidFill>
                <a:latin typeface="Arial"/>
              </a:rPr>
              <a:t>▪  </a:t>
            </a:r>
            <a:r>
              <a:rPr sz="900" b="0" i="0">
                <a:solidFill>
                  <a:srgbClr val="33455A"/>
                </a:solidFill>
                <a:latin typeface="Arial"/>
              </a:rPr>
              <a:t>Shows if many people were targeted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16A34A"/>
                </a:solidFill>
                <a:latin typeface="Arial"/>
              </a:rPr>
              <a:t>▪  </a:t>
            </a:r>
            <a:r>
              <a:rPr sz="900" b="0" i="0">
                <a:solidFill>
                  <a:srgbClr val="33455A"/>
                </a:solidFill>
                <a:latin typeface="Arial"/>
              </a:rPr>
              <a:t>A strong lead — not proof of who</a:t>
            </a:r>
          </a:p>
        </p:txBody>
      </p:sp>
      <p:pic>
        <p:nvPicPr>
          <p:cNvPr id="28" name="Picture 27" descr="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657600"/>
            <a:ext cx="5623560" cy="1312164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6108192" y="3657600"/>
            <a:ext cx="5760720" cy="1316736"/>
          </a:xfrm>
          <a:prstGeom prst="roundRect">
            <a:avLst>
              <a:gd name="adj" fmla="val 5000"/>
            </a:avLst>
          </a:prstGeom>
          <a:solidFill>
            <a:srgbClr val="F4F9FD"/>
          </a:solidFill>
          <a:ln w="15875">
            <a:solidFill>
              <a:srgbClr val="0B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08192" y="3657600"/>
            <a:ext cx="5760720" cy="310896"/>
          </a:xfrm>
          <a:prstGeom prst="roundRect">
            <a:avLst>
              <a:gd name="adj" fmla="val 10000"/>
            </a:avLst>
          </a:prstGeom>
          <a:solidFill>
            <a:srgbClr val="0B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FFFFFF"/>
                </a:solidFill>
                <a:latin typeface="Arial"/>
              </a:rPr>
              <a:t>TECHNOLOGY STACK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54496" y="4078224"/>
            <a:ext cx="546811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840" b="1" i="0" spc="50">
                <a:solidFill>
                  <a:srgbClr val="006FC0"/>
                </a:solidFill>
                <a:latin typeface="Arial"/>
              </a:rPr>
              <a:t>FRONTEND   </a:t>
            </a:r>
            <a:r>
              <a:rPr sz="860" b="0" i="0">
                <a:solidFill>
                  <a:srgbClr val="33455A"/>
                </a:solidFill>
                <a:latin typeface="Arial"/>
              </a:rPr>
              <a:t>Next.js 15 · React 19 · TypeScript · Tailwind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840" b="1" i="0" spc="50">
                <a:solidFill>
                  <a:srgbClr val="0EA5B7"/>
                </a:solidFill>
                <a:latin typeface="Arial"/>
              </a:rPr>
              <a:t>BACKEND   </a:t>
            </a:r>
            <a:r>
              <a:rPr sz="860" b="0" i="0">
                <a:solidFill>
                  <a:srgbClr val="33455A"/>
                </a:solidFill>
                <a:latin typeface="Arial"/>
              </a:rPr>
              <a:t>FastAPI · Python 3.12 · SQLAlchemy · worker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840" b="1" i="0" spc="50">
                <a:solidFill>
                  <a:srgbClr val="16A34A"/>
                </a:solidFill>
                <a:latin typeface="Arial"/>
              </a:rPr>
              <a:t>DATA   </a:t>
            </a:r>
            <a:r>
              <a:rPr sz="860" b="0" i="0">
                <a:solidFill>
                  <a:srgbClr val="33455A"/>
                </a:solidFill>
                <a:latin typeface="Arial"/>
              </a:rPr>
              <a:t>PostgreSQL · Alembic · jobs queue · Supabase RLS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840" b="1" i="0" spc="50">
                <a:solidFill>
                  <a:srgbClr val="7C3AED"/>
                </a:solidFill>
                <a:latin typeface="Arial"/>
              </a:rPr>
              <a:t>AI   </a:t>
            </a:r>
            <a:r>
              <a:rPr sz="860" b="0" i="0">
                <a:solidFill>
                  <a:srgbClr val="33455A"/>
                </a:solidFill>
                <a:latin typeface="Arial"/>
              </a:rPr>
              <a:t>OpenAI GPT · fixed format · limited to 12 points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840" b="1" i="0" spc="50">
                <a:solidFill>
                  <a:srgbClr val="D97706"/>
                </a:solidFill>
                <a:latin typeface="Arial"/>
              </a:rPr>
              <a:t>PROOF   </a:t>
            </a:r>
            <a:r>
              <a:rPr sz="860" b="0" i="0">
                <a:solidFill>
                  <a:srgbClr val="33455A"/>
                </a:solidFill>
                <a:latin typeface="Arial"/>
              </a:rPr>
              <a:t>digital fingerprints · anchored on a blockchain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040" y="5084064"/>
            <a:ext cx="5623560" cy="1133856"/>
          </a:xfrm>
          <a:prstGeom prst="roundRect">
            <a:avLst>
              <a:gd name="adj" fmla="val 5000"/>
            </a:avLst>
          </a:prstGeom>
          <a:solidFill>
            <a:srgbClr val="F4F9FD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20040" y="5084064"/>
            <a:ext cx="5623560" cy="310896"/>
          </a:xfrm>
          <a:prstGeom prst="roundRect">
            <a:avLst>
              <a:gd name="adj" fmla="val 1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FFFFFF"/>
                </a:solidFill>
                <a:latin typeface="Arial"/>
              </a:rPr>
              <a:t>ONE PRODUCT, TWO DOORS INTO 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27248" y="5486400"/>
            <a:ext cx="10972" cy="658368"/>
          </a:xfrm>
          <a:prstGeom prst="rect">
            <a:avLst/>
          </a:prstGeom>
          <a:solidFill>
            <a:srgbClr val="C9D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4" y="5504688"/>
            <a:ext cx="254203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1" i="0" spc="80">
                <a:solidFill>
                  <a:srgbClr val="006FC0"/>
                </a:solidFill>
                <a:latin typeface="Arial"/>
              </a:rPr>
              <a:t>THE EMPLOYEE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 i="0">
                <a:solidFill>
                  <a:srgbClr val="33455A"/>
                </a:solidFill>
                <a:latin typeface="Arial"/>
              </a:rPr>
              <a:t>Clicks one button in Gmail. Gets a red or green badge and a single sentence. That is all they ever see.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73552" y="5504688"/>
            <a:ext cx="2523744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19" b="1" i="0" spc="80">
                <a:solidFill>
                  <a:srgbClr val="16A34A"/>
                </a:solidFill>
                <a:latin typeface="Arial"/>
              </a:rPr>
              <a:t>THE SECURITY ANALYST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 i="0">
                <a:solidFill>
                  <a:srgbClr val="33455A"/>
                </a:solidFill>
                <a:latin typeface="Arial"/>
              </a:rPr>
              <a:t>Opens the full dashboard: the score and its reasons, the origin trace, the campaign links, the sealed evidence and a PDF report.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08192" y="5084064"/>
            <a:ext cx="5760720" cy="1133856"/>
          </a:xfrm>
          <a:prstGeom prst="roundRect">
            <a:avLst>
              <a:gd name="adj" fmla="val 5000"/>
            </a:avLst>
          </a:prstGeom>
          <a:solidFill>
            <a:srgbClr val="0B1728"/>
          </a:solidFill>
          <a:ln w="15875">
            <a:solidFill>
              <a:srgbClr val="0EA5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860" b="1" i="0" spc="140">
                <a:solidFill>
                  <a:srgbClr val="67E8F9"/>
                </a:solidFill>
                <a:latin typeface="Arial"/>
              </a:rPr>
              <a:t>WHY IT IS RELIABLE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67E8F9"/>
                </a:solidFill>
                <a:latin typeface="Arial"/>
              </a:rPr>
              <a:t>The security checks are kept completely separate from the website code.</a:t>
            </a:r>
            <a:r>
              <a:rPr sz="1000" b="0" i="0">
                <a:solidFill>
                  <a:srgbClr val="FFFFFF"/>
                </a:solidFill>
                <a:latin typeface="Arial"/>
              </a:rPr>
              <a:t> That means we can test them properly on their own, and the very same engine runs behind the website and the background worker.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000" b="1">
                <a:solidFill>
                  <a:srgbClr val="0B2A47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874519" cy="603504"/>
          </a:xfrm>
          <a:prstGeom prst="roundRect">
            <a:avLst>
              <a:gd name="adj" fmla="val 14000"/>
            </a:avLst>
          </a:prstGeom>
          <a:solidFill>
            <a:srgbClr val="0B1728"/>
          </a:solidFill>
          <a:ln w="15875">
            <a:solidFill>
              <a:srgbClr val="0EA5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20">
                <a:solidFill>
                  <a:srgbClr val="FFFFFF"/>
                </a:solidFill>
                <a:latin typeface="Arial"/>
              </a:rPr>
              <a:t>HEADWATERS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6376" y="117043"/>
            <a:ext cx="2159812" cy="100108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3891"/>
            <a:ext cx="12191969" cy="504017"/>
          </a:xfrm>
          <a:prstGeom prst="rect">
            <a:avLst/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@ Team Headwaters   ·   PS26106   ·   Smart India Hackathon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6129" y="6353891"/>
            <a:ext cx="658368" cy="5040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42415"/>
            <a:ext cx="6784848" cy="310896"/>
          </a:xfrm>
          <a:prstGeom prst="roundRect">
            <a:avLst>
              <a:gd name="adj" fmla="val 10000"/>
            </a:avLst>
          </a:prstGeom>
          <a:solidFill>
            <a:srgbClr val="0B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50">
                <a:solidFill>
                  <a:srgbClr val="FFFFFF"/>
                </a:solidFill>
                <a:latin typeface="Arial"/>
              </a:rPr>
              <a:t>HOW IT SCALES  —  THE WORK IS DELIBERATELY SPLIT IN TWO</a:t>
            </a:r>
          </a:p>
        </p:txBody>
      </p:sp>
      <p:pic>
        <p:nvPicPr>
          <p:cNvPr id="8" name="Picture 7" descr="ba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444752"/>
            <a:ext cx="6784848" cy="309309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269480" y="1042415"/>
            <a:ext cx="4599432" cy="1810512"/>
          </a:xfrm>
          <a:prstGeom prst="roundRect">
            <a:avLst>
              <a:gd name="adj" fmla="val 5000"/>
            </a:avLst>
          </a:prstGeom>
          <a:solidFill>
            <a:srgbClr val="F4F9FD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69480" y="1042415"/>
            <a:ext cx="4599432" cy="310896"/>
          </a:xfrm>
          <a:prstGeom prst="roundRect">
            <a:avLst>
              <a:gd name="adj" fmla="val 1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FFFFFF"/>
                </a:solidFill>
                <a:latin typeface="Arial"/>
              </a:rPr>
              <a:t>WHY IT CAN BE BUILT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15783" y="1463040"/>
            <a:ext cx="430682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40" b="1" i="0">
                <a:solidFill>
                  <a:srgbClr val="16A34A"/>
                </a:solidFill>
                <a:latin typeface="Arial"/>
              </a:rPr>
              <a:t>▪  </a:t>
            </a:r>
            <a:r>
              <a:rPr sz="940" b="1" i="0">
                <a:solidFill>
                  <a:srgbClr val="0B2A47"/>
                </a:solidFill>
                <a:latin typeface="Arial"/>
              </a:rPr>
              <a:t>Nothing new to invent</a:t>
            </a:r>
            <a:r>
              <a:rPr sz="940" b="1" i="0">
                <a:solidFill>
                  <a:srgbClr val="0B2A47"/>
                </a:solidFill>
                <a:latin typeface="Arial"/>
              </a:rPr>
              <a:t> : </a:t>
            </a:r>
            <a:r>
              <a:rPr sz="940" b="0" i="0">
                <a:solidFill>
                  <a:srgbClr val="33455A"/>
                </a:solidFill>
                <a:latin typeface="Arial"/>
              </a:rPr>
              <a:t>SPF, DKIM and DMARC are world standards, already used by Gmail and Outlook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40" b="1" i="0">
                <a:solidFill>
                  <a:srgbClr val="16A34A"/>
                </a:solidFill>
                <a:latin typeface="Arial"/>
              </a:rPr>
              <a:t>▪  </a:t>
            </a:r>
            <a:r>
              <a:rPr sz="940" b="1" i="0">
                <a:solidFill>
                  <a:srgbClr val="0B2A47"/>
                </a:solidFill>
                <a:latin typeface="Arial"/>
              </a:rPr>
              <a:t>Data is public</a:t>
            </a:r>
            <a:r>
              <a:rPr sz="940" b="1" i="0">
                <a:solidFill>
                  <a:srgbClr val="0B2A47"/>
                </a:solidFill>
                <a:latin typeface="Arial"/>
              </a:rPr>
              <a:t> : </a:t>
            </a:r>
            <a:r>
              <a:rPr sz="940" b="0" i="0">
                <a:solidFill>
                  <a:srgbClr val="33455A"/>
                </a:solidFill>
                <a:latin typeface="Arial"/>
              </a:rPr>
              <a:t>domain, server and network records are open to anyone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40" b="1" i="0">
                <a:solidFill>
                  <a:srgbClr val="16A34A"/>
                </a:solidFill>
                <a:latin typeface="Arial"/>
              </a:rPr>
              <a:t>▪  </a:t>
            </a:r>
            <a:r>
              <a:rPr sz="940" b="1" i="0">
                <a:solidFill>
                  <a:srgbClr val="0B2A47"/>
                </a:solidFill>
                <a:latin typeface="Arial"/>
              </a:rPr>
              <a:t>AI on a short leash</a:t>
            </a:r>
            <a:r>
              <a:rPr sz="940" b="1" i="0">
                <a:solidFill>
                  <a:srgbClr val="0B2A47"/>
                </a:solidFill>
                <a:latin typeface="Arial"/>
              </a:rPr>
              <a:t> : </a:t>
            </a:r>
            <a:r>
              <a:rPr sz="940" b="0" i="0">
                <a:solidFill>
                  <a:srgbClr val="33455A"/>
                </a:solidFill>
                <a:latin typeface="Arial"/>
              </a:rPr>
              <a:t>fixed format, and a hard limit of 12 points out of 100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40" b="1" i="0">
                <a:solidFill>
                  <a:srgbClr val="16A34A"/>
                </a:solidFill>
                <a:latin typeface="Arial"/>
              </a:rPr>
              <a:t>▪  </a:t>
            </a:r>
            <a:r>
              <a:rPr sz="940" b="1" i="0">
                <a:solidFill>
                  <a:srgbClr val="0B2A47"/>
                </a:solidFill>
                <a:latin typeface="Arial"/>
              </a:rPr>
              <a:t>Proof is standard</a:t>
            </a:r>
            <a:r>
              <a:rPr sz="940" b="1" i="0">
                <a:solidFill>
                  <a:srgbClr val="0B2A47"/>
                </a:solidFill>
                <a:latin typeface="Arial"/>
              </a:rPr>
              <a:t> : </a:t>
            </a:r>
            <a:r>
              <a:rPr sz="940" b="0" i="0">
                <a:solidFill>
                  <a:srgbClr val="33455A"/>
                </a:solidFill>
                <a:latin typeface="Arial"/>
              </a:rPr>
              <a:t>digital fingerprints, anchored on a blockchain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9480" y="2962656"/>
            <a:ext cx="4599432" cy="1572768"/>
          </a:xfrm>
          <a:prstGeom prst="roundRect">
            <a:avLst>
              <a:gd name="adj" fmla="val 5000"/>
            </a:avLst>
          </a:prstGeom>
          <a:solidFill>
            <a:srgbClr val="F4F9FD"/>
          </a:solidFill>
          <a:ln w="15875">
            <a:solidFill>
              <a:srgbClr val="006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269480" y="2962656"/>
            <a:ext cx="4599432" cy="310896"/>
          </a:xfrm>
          <a:prstGeom prst="roundRect">
            <a:avLst>
              <a:gd name="adj" fmla="val 10000"/>
            </a:avLst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FFFFFF"/>
                </a:solidFill>
                <a:latin typeface="Arial"/>
              </a:rPr>
              <a:t>DEPLOYMENT READINESS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15783" y="3383280"/>
            <a:ext cx="1353312" cy="438912"/>
          </a:xfrm>
          <a:prstGeom prst="roundRect">
            <a:avLst>
              <a:gd name="adj" fmla="val 12000"/>
            </a:avLst>
          </a:prstGeom>
          <a:solidFill>
            <a:srgbClr val="F4F9FD"/>
          </a:solidFill>
          <a:ln w="12700">
            <a:solidFill>
              <a:srgbClr val="C9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40">
                <a:solidFill>
                  <a:srgbClr val="006FC0"/>
                </a:solidFill>
                <a:latin typeface="Arial"/>
              </a:rPr>
              <a:t>FRONTEND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B2A47"/>
                </a:solidFill>
                <a:latin typeface="Arial"/>
              </a:rPr>
              <a:t>Vercel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0536" y="3383280"/>
            <a:ext cx="1353312" cy="438912"/>
          </a:xfrm>
          <a:prstGeom prst="roundRect">
            <a:avLst>
              <a:gd name="adj" fmla="val 12000"/>
            </a:avLst>
          </a:prstGeom>
          <a:solidFill>
            <a:srgbClr val="F4F9FD"/>
          </a:solidFill>
          <a:ln w="12700">
            <a:solidFill>
              <a:srgbClr val="C9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40">
                <a:solidFill>
                  <a:srgbClr val="006FC0"/>
                </a:solidFill>
                <a:latin typeface="Arial"/>
              </a:rPr>
              <a:t>BACKEND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B2A47"/>
                </a:solidFill>
                <a:latin typeface="Arial"/>
              </a:rPr>
              <a:t>FastAPI + Docker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05288" y="3383280"/>
            <a:ext cx="1353312" cy="438912"/>
          </a:xfrm>
          <a:prstGeom prst="roundRect">
            <a:avLst>
              <a:gd name="adj" fmla="val 12000"/>
            </a:avLst>
          </a:prstGeom>
          <a:solidFill>
            <a:srgbClr val="F4F9FD"/>
          </a:solidFill>
          <a:ln w="12700">
            <a:solidFill>
              <a:srgbClr val="C9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40">
                <a:solidFill>
                  <a:srgbClr val="006FC0"/>
                </a:solidFill>
                <a:latin typeface="Arial"/>
              </a:rPr>
              <a:t>DATABASE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B2A47"/>
                </a:solidFill>
                <a:latin typeface="Arial"/>
              </a:rPr>
              <a:t>PostgreSQL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15783" y="3895344"/>
            <a:ext cx="1353312" cy="438912"/>
          </a:xfrm>
          <a:prstGeom prst="roundRect">
            <a:avLst>
              <a:gd name="adj" fmla="val 12000"/>
            </a:avLst>
          </a:prstGeom>
          <a:solidFill>
            <a:srgbClr val="F4F9FD"/>
          </a:solidFill>
          <a:ln w="12700">
            <a:solidFill>
              <a:srgbClr val="C9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40">
                <a:solidFill>
                  <a:srgbClr val="006FC0"/>
                </a:solidFill>
                <a:latin typeface="Arial"/>
              </a:rPr>
              <a:t>STORAGE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B2A47"/>
                </a:solidFill>
                <a:latin typeface="Arial"/>
              </a:rPr>
              <a:t>Secure object store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0536" y="3895344"/>
            <a:ext cx="1353312" cy="438912"/>
          </a:xfrm>
          <a:prstGeom prst="roundRect">
            <a:avLst>
              <a:gd name="adj" fmla="val 12000"/>
            </a:avLst>
          </a:prstGeom>
          <a:solidFill>
            <a:srgbClr val="F4F9FD"/>
          </a:solidFill>
          <a:ln w="12700">
            <a:solidFill>
              <a:srgbClr val="C9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40">
                <a:solidFill>
                  <a:srgbClr val="006FC0"/>
                </a:solidFill>
                <a:latin typeface="Arial"/>
              </a:rPr>
              <a:t>MONITORING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B2A47"/>
                </a:solidFill>
                <a:latin typeface="Arial"/>
              </a:rPr>
              <a:t>Sentry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05288" y="3895344"/>
            <a:ext cx="1353312" cy="438912"/>
          </a:xfrm>
          <a:prstGeom prst="roundRect">
            <a:avLst>
              <a:gd name="adj" fmla="val 12000"/>
            </a:avLst>
          </a:prstGeom>
          <a:solidFill>
            <a:srgbClr val="F4F9FD"/>
          </a:solidFill>
          <a:ln w="12700">
            <a:solidFill>
              <a:srgbClr val="C9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40">
                <a:solidFill>
                  <a:srgbClr val="006FC0"/>
                </a:solidFill>
                <a:latin typeface="Arial"/>
              </a:rPr>
              <a:t>CI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0B2A47"/>
                </a:solidFill>
                <a:latin typeface="Arial"/>
              </a:rPr>
              <a:t>ruff · mypy · bandit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4663440"/>
            <a:ext cx="5696712" cy="1463040"/>
          </a:xfrm>
          <a:prstGeom prst="roundRect">
            <a:avLst>
              <a:gd name="adj" fmla="val 5000"/>
            </a:avLst>
          </a:prstGeom>
          <a:solidFill>
            <a:srgbClr val="F4F9FD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0040" y="4663440"/>
            <a:ext cx="5696712" cy="310896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FFFFFF"/>
                </a:solidFill>
                <a:latin typeface="Arial"/>
              </a:rPr>
              <a:t>TECHNICAL CHALLENGE  &amp;  MITIGATION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" y="5084064"/>
            <a:ext cx="5404104" cy="1042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40" b="1" i="0">
                <a:solidFill>
                  <a:srgbClr val="DC2626"/>
                </a:solidFill>
                <a:latin typeface="Arial"/>
              </a:rPr>
              <a:t>▪  </a:t>
            </a:r>
            <a:r>
              <a:rPr sz="940" b="1" i="0">
                <a:solidFill>
                  <a:srgbClr val="0B2A47"/>
                </a:solidFill>
                <a:latin typeface="Arial"/>
              </a:rPr>
              <a:t>Risk</a:t>
            </a:r>
            <a:r>
              <a:rPr sz="940" b="1" i="0">
                <a:solidFill>
                  <a:srgbClr val="0B2A47"/>
                </a:solidFill>
                <a:latin typeface="Arial"/>
              </a:rPr>
              <a:t> : </a:t>
            </a:r>
            <a:r>
              <a:rPr sz="940" b="0" i="0">
                <a:solidFill>
                  <a:srgbClr val="33455A"/>
                </a:solidFill>
                <a:latin typeface="Arial"/>
              </a:rPr>
              <a:t>if the attacker sent it through a big provider like Gmail, the real sender is hidden. And AI can sometimes invent details.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40" b="1" i="0">
                <a:solidFill>
                  <a:srgbClr val="DC2626"/>
                </a:solidFill>
                <a:latin typeface="Arial"/>
              </a:rPr>
              <a:t>▪  </a:t>
            </a:r>
            <a:r>
              <a:rPr sz="940" b="1" i="0">
                <a:solidFill>
                  <a:srgbClr val="0B2A47"/>
                </a:solidFill>
                <a:latin typeface="Arial"/>
              </a:rPr>
              <a:t>Our answer</a:t>
            </a:r>
            <a:r>
              <a:rPr sz="940" b="1" i="0">
                <a:solidFill>
                  <a:srgbClr val="0B2A47"/>
                </a:solidFill>
                <a:latin typeface="Arial"/>
              </a:rPr>
              <a:t> : </a:t>
            </a:r>
            <a:r>
              <a:rPr sz="940" b="0" i="0">
                <a:solidFill>
                  <a:srgbClr val="33455A"/>
                </a:solidFill>
                <a:latin typeface="Arial"/>
              </a:rPr>
              <a:t>we say so honestly instead of guessing. And the AI is capped at 12 points, so it can never change the verdict on its own.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663440"/>
            <a:ext cx="5696712" cy="1463040"/>
          </a:xfrm>
          <a:prstGeom prst="roundRect">
            <a:avLst>
              <a:gd name="adj" fmla="val 5000"/>
            </a:avLst>
          </a:prstGeom>
          <a:solidFill>
            <a:srgbClr val="F4F9FD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72200" y="4663440"/>
            <a:ext cx="5696712" cy="310896"/>
          </a:xfrm>
          <a:prstGeom prst="roundRect">
            <a:avLst>
              <a:gd name="adj" fmla="val 1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FFFFFF"/>
                </a:solidFill>
                <a:latin typeface="Arial"/>
              </a:rPr>
              <a:t>VIABILITY  &amp;  ADOPTION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8504" y="5084064"/>
            <a:ext cx="5404104" cy="1042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40" b="1" i="0">
                <a:solidFill>
                  <a:srgbClr val="16A34A"/>
                </a:solidFill>
                <a:latin typeface="Arial"/>
              </a:rPr>
              <a:t>▪  </a:t>
            </a:r>
            <a:r>
              <a:rPr sz="940" b="1" i="0">
                <a:solidFill>
                  <a:srgbClr val="0B2A47"/>
                </a:solidFill>
                <a:latin typeface="Arial"/>
              </a:rPr>
              <a:t>Who will pay</a:t>
            </a:r>
            <a:r>
              <a:rPr sz="940" b="1" i="0">
                <a:solidFill>
                  <a:srgbClr val="0B2A47"/>
                </a:solidFill>
                <a:latin typeface="Arial"/>
              </a:rPr>
              <a:t> : </a:t>
            </a:r>
            <a:r>
              <a:rPr sz="940" b="0" i="0">
                <a:solidFill>
                  <a:srgbClr val="33455A"/>
                </a:solidFill>
                <a:latin typeface="Arial"/>
              </a:rPr>
              <a:t>banks, government teams, colleges and IT security firms already spend staff hours doing exactly this by hand.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40" b="1" i="0">
                <a:solidFill>
                  <a:srgbClr val="16A34A"/>
                </a:solidFill>
                <a:latin typeface="Arial"/>
              </a:rPr>
              <a:t>▪  </a:t>
            </a:r>
            <a:r>
              <a:rPr sz="940" b="1" i="0">
                <a:solidFill>
                  <a:srgbClr val="0B2A47"/>
                </a:solidFill>
                <a:latin typeface="Arial"/>
              </a:rPr>
              <a:t>Easy to adopt</a:t>
            </a:r>
            <a:r>
              <a:rPr sz="940" b="1" i="0">
                <a:solidFill>
                  <a:srgbClr val="0B2A47"/>
                </a:solidFill>
                <a:latin typeface="Arial"/>
              </a:rPr>
              <a:t> : </a:t>
            </a:r>
            <a:r>
              <a:rPr sz="940" b="0" i="0">
                <a:solidFill>
                  <a:srgbClr val="33455A"/>
                </a:solidFill>
                <a:latin typeface="Arial"/>
              </a:rPr>
              <a:t>it sits beside the email security they already own. Nothing about their email setup has to change.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000" b="1">
                <a:solidFill>
                  <a:srgbClr val="0B2A47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874519" cy="603504"/>
          </a:xfrm>
          <a:prstGeom prst="roundRect">
            <a:avLst>
              <a:gd name="adj" fmla="val 14000"/>
            </a:avLst>
          </a:prstGeom>
          <a:solidFill>
            <a:srgbClr val="0B1728"/>
          </a:solidFill>
          <a:ln w="15875">
            <a:solidFill>
              <a:srgbClr val="0EA5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20">
                <a:solidFill>
                  <a:srgbClr val="FFFFFF"/>
                </a:solidFill>
                <a:latin typeface="Arial"/>
              </a:rPr>
              <a:t>HEADWATERS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6376" y="117043"/>
            <a:ext cx="2159812" cy="100108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3891"/>
            <a:ext cx="12191969" cy="504017"/>
          </a:xfrm>
          <a:prstGeom prst="rect">
            <a:avLst/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@ Team Headwaters   ·   PS26106   ·   Smart India Hackathon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6129" y="6353891"/>
            <a:ext cx="658368" cy="5040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pic>
        <p:nvPicPr>
          <p:cNvPr id="7" name="Picture 6" descr="before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60704"/>
            <a:ext cx="7370064" cy="247502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82127" y="1060704"/>
            <a:ext cx="3986784" cy="2377440"/>
          </a:xfrm>
          <a:prstGeom prst="roundRect">
            <a:avLst>
              <a:gd name="adj" fmla="val 5000"/>
            </a:avLst>
          </a:prstGeom>
          <a:solidFill>
            <a:srgbClr val="F4F9FD"/>
          </a:solidFill>
          <a:ln w="15875">
            <a:solidFill>
              <a:srgbClr val="0B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82127" y="1060704"/>
            <a:ext cx="3986784" cy="292608"/>
          </a:xfrm>
          <a:prstGeom prst="roundRect">
            <a:avLst>
              <a:gd name="adj" fmla="val 10000"/>
            </a:avLst>
          </a:prstGeom>
          <a:solidFill>
            <a:srgbClr val="0B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 spc="60">
                <a:solidFill>
                  <a:srgbClr val="FFFFFF"/>
                </a:solidFill>
                <a:latin typeface="Arial"/>
              </a:rPr>
              <a:t>COMPARED WITH TODAY'S EMAIL FILTERS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444752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6B7F94"/>
                </a:solidFill>
                <a:latin typeface="Arial"/>
              </a:rPr>
              <a:t>CAPABILITY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42448" y="1444752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6B7F94"/>
                </a:solidFill>
                <a:latin typeface="Arial"/>
              </a:rPr>
              <a:t>FILTERS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10544" y="1444752"/>
            <a:ext cx="53035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6B7F94"/>
                </a:solidFill>
                <a:latin typeface="Arial"/>
              </a:rPr>
              <a:t>OURS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3568" y="1627632"/>
            <a:ext cx="3803904" cy="242316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645920"/>
            <a:ext cx="233172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33455A"/>
                </a:solidFill>
                <a:latin typeface="Arial"/>
              </a:rPr>
              <a:t>Blocks known attacks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42448" y="1645920"/>
            <a:ext cx="786384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6A34A"/>
                </a:solidFill>
                <a:latin typeface="Arial"/>
              </a:rPr>
              <a:t>Yes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10544" y="1645920"/>
            <a:ext cx="530352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6A34A"/>
                </a:solidFill>
                <a:latin typeface="Arial"/>
              </a:rPr>
              <a:t>Yes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1888236"/>
            <a:ext cx="233172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33455A"/>
                </a:solidFill>
                <a:latin typeface="Arial"/>
              </a:rPr>
              <a:t>Explains why, in plain English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42448" y="1888236"/>
            <a:ext cx="786384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DC2626"/>
                </a:solidFill>
                <a:latin typeface="Arial"/>
              </a:rPr>
              <a:t>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10544" y="1888236"/>
            <a:ext cx="530352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6A34A"/>
                </a:solidFill>
                <a:latin typeface="Arial"/>
              </a:rPr>
              <a:t>Yes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2112264"/>
            <a:ext cx="3803904" cy="242316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2130552"/>
            <a:ext cx="233172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33455A"/>
                </a:solidFill>
                <a:latin typeface="Arial"/>
              </a:rPr>
              <a:t>Shows where it came from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42448" y="2130552"/>
            <a:ext cx="786384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DC2626"/>
                </a:solidFill>
                <a:latin typeface="Arial"/>
              </a:rPr>
              <a:t>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10544" y="2130552"/>
            <a:ext cx="530352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6A34A"/>
                </a:solidFill>
                <a:latin typeface="Arial"/>
              </a:rPr>
              <a:t>Yes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372868"/>
            <a:ext cx="233172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33455A"/>
                </a:solidFill>
                <a:latin typeface="Arial"/>
              </a:rPr>
              <a:t>Shows how sure it 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42448" y="2372868"/>
            <a:ext cx="786384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DC2626"/>
                </a:solidFill>
                <a:latin typeface="Arial"/>
              </a:rPr>
              <a:t>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10544" y="2372868"/>
            <a:ext cx="530352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6A34A"/>
                </a:solidFill>
                <a:latin typeface="Arial"/>
              </a:rPr>
              <a:t>Yes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73568" y="2596896"/>
            <a:ext cx="3803904" cy="242316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2615184"/>
            <a:ext cx="233172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33455A"/>
                </a:solidFill>
                <a:latin typeface="Arial"/>
              </a:rPr>
              <a:t>Links related attacks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42448" y="2615184"/>
            <a:ext cx="786384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D97706"/>
                </a:solidFill>
                <a:latin typeface="Arial"/>
              </a:rPr>
              <a:t>Partly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10544" y="2615184"/>
            <a:ext cx="530352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6A34A"/>
                </a:solidFill>
                <a:latin typeface="Arial"/>
              </a:rPr>
              <a:t>Yes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2857500"/>
            <a:ext cx="233172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33455A"/>
                </a:solidFill>
                <a:latin typeface="Arial"/>
              </a:rPr>
              <a:t>Proof that cannot be edited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42448" y="2857500"/>
            <a:ext cx="786384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DC2626"/>
                </a:solidFill>
                <a:latin typeface="Arial"/>
              </a:rPr>
              <a:t>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10544" y="2857500"/>
            <a:ext cx="530352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6A34A"/>
                </a:solidFill>
                <a:latin typeface="Arial"/>
              </a:rPr>
              <a:t>Yes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73568" y="3081528"/>
            <a:ext cx="3803904" cy="242316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0" y="3099816"/>
            <a:ext cx="233172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33455A"/>
                </a:solidFill>
                <a:latin typeface="Arial"/>
              </a:rPr>
              <a:t>Works without internet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42448" y="3099816"/>
            <a:ext cx="786384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DC2626"/>
                </a:solidFill>
                <a:latin typeface="Arial"/>
              </a:rPr>
              <a:t>No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10544" y="3099816"/>
            <a:ext cx="530352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6A34A"/>
                </a:solidFill>
                <a:latin typeface="Arial"/>
              </a:rPr>
              <a:t>Yes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0040" y="3602736"/>
            <a:ext cx="3712463" cy="2523744"/>
          </a:xfrm>
          <a:prstGeom prst="roundRect">
            <a:avLst>
              <a:gd name="adj" fmla="val 5000"/>
            </a:avLst>
          </a:prstGeom>
          <a:solidFill>
            <a:srgbClr val="F4F9FD"/>
          </a:solidFill>
          <a:ln w="15875">
            <a:solidFill>
              <a:srgbClr val="006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20040" y="3602736"/>
            <a:ext cx="3712463" cy="310896"/>
          </a:xfrm>
          <a:prstGeom prst="roundRect">
            <a:avLst>
              <a:gd name="adj" fmla="val 10000"/>
            </a:avLst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FFFFFF"/>
                </a:solidFill>
                <a:latin typeface="Arial"/>
              </a:rPr>
              <a:t>WHO IT SERVES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" y="4023360"/>
            <a:ext cx="3419856" cy="1993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960" b="1" i="0">
                <a:solidFill>
                  <a:srgbClr val="006FC0"/>
                </a:solidFill>
                <a:latin typeface="Arial"/>
              </a:rPr>
              <a:t>▪  </a:t>
            </a:r>
            <a:r>
              <a:rPr sz="960" b="0" i="0">
                <a:solidFill>
                  <a:srgbClr val="33455A"/>
                </a:solidFill>
                <a:latin typeface="Arial"/>
              </a:rPr>
              <a:t>A bank's security team — usually 2 to 5 analysts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960" b="1" i="0">
                <a:solidFill>
                  <a:srgbClr val="006FC0"/>
                </a:solidFill>
                <a:latin typeface="Arial"/>
              </a:rPr>
              <a:t>▪  </a:t>
            </a:r>
            <a:r>
              <a:rPr sz="960" b="0" i="0">
                <a:solidFill>
                  <a:srgbClr val="33455A"/>
                </a:solidFill>
                <a:latin typeface="Arial"/>
              </a:rPr>
              <a:t>Government departments and national CERTs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960" b="1" i="0">
                <a:solidFill>
                  <a:srgbClr val="006FC0"/>
                </a:solidFill>
                <a:latin typeface="Arial"/>
              </a:rPr>
              <a:t>▪  </a:t>
            </a:r>
            <a:r>
              <a:rPr sz="960" b="0" i="0">
                <a:solidFill>
                  <a:srgbClr val="33455A"/>
                </a:solidFill>
                <a:latin typeface="Arial"/>
              </a:rPr>
              <a:t>University and college IT teams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960" b="1" i="0">
                <a:solidFill>
                  <a:srgbClr val="006FC0"/>
                </a:solidFill>
                <a:latin typeface="Arial"/>
              </a:rPr>
              <a:t>▪  </a:t>
            </a:r>
            <a:r>
              <a:rPr sz="960" b="0" i="0">
                <a:solidFill>
                  <a:srgbClr val="33455A"/>
                </a:solidFill>
                <a:latin typeface="Arial"/>
              </a:rPr>
              <a:t>Cybercrime police cells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960" b="1" i="0">
                <a:solidFill>
                  <a:srgbClr val="006FC0"/>
                </a:solidFill>
                <a:latin typeface="Arial"/>
              </a:rPr>
              <a:t>▪  </a:t>
            </a:r>
            <a:r>
              <a:rPr sz="960" b="0" i="0">
                <a:solidFill>
                  <a:srgbClr val="33455A"/>
                </a:solidFill>
                <a:latin typeface="Arial"/>
              </a:rPr>
              <a:t>IT security firms and response teams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61104" y="3602736"/>
            <a:ext cx="3712463" cy="2523744"/>
          </a:xfrm>
          <a:prstGeom prst="roundRect">
            <a:avLst>
              <a:gd name="adj" fmla="val 5000"/>
            </a:avLst>
          </a:prstGeom>
          <a:solidFill>
            <a:srgbClr val="F4F9FD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261104" y="3602736"/>
            <a:ext cx="3712463" cy="310896"/>
          </a:xfrm>
          <a:prstGeom prst="roundRect">
            <a:avLst>
              <a:gd name="adj" fmla="val 1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FFFFFF"/>
                </a:solidFill>
                <a:latin typeface="Arial"/>
              </a:rPr>
              <a:t>MEASURABLE OUTCOMES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07408" y="4023360"/>
            <a:ext cx="3419856" cy="1993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960" b="1" i="0">
                <a:solidFill>
                  <a:srgbClr val="16A34A"/>
                </a:solidFill>
                <a:latin typeface="Arial"/>
              </a:rPr>
              <a:t>▪  </a:t>
            </a:r>
            <a:r>
              <a:rPr sz="960" b="0" i="0">
                <a:solidFill>
                  <a:srgbClr val="33455A"/>
                </a:solidFill>
                <a:latin typeface="Arial"/>
              </a:rPr>
              <a:t>One email now takes about a minute instead of an hour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960" b="1" i="0">
                <a:solidFill>
                  <a:srgbClr val="16A34A"/>
                </a:solidFill>
                <a:latin typeface="Arial"/>
              </a:rPr>
              <a:t>▪  </a:t>
            </a:r>
            <a:r>
              <a:rPr sz="960" b="0" i="0">
                <a:solidFill>
                  <a:srgbClr val="33455A"/>
                </a:solidFill>
                <a:latin typeface="Arial"/>
              </a:rPr>
              <a:t>Every analyst gets the same answer, every time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960" b="1" i="0">
                <a:solidFill>
                  <a:srgbClr val="16A34A"/>
                </a:solidFill>
                <a:latin typeface="Arial"/>
              </a:rPr>
              <a:t>▪  </a:t>
            </a:r>
            <a:r>
              <a:rPr sz="960" b="0" i="0">
                <a:solidFill>
                  <a:srgbClr val="33455A"/>
                </a:solidFill>
                <a:latin typeface="Arial"/>
              </a:rPr>
              <a:t>Group attacks get spotted, instead of being closed one by one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960" b="1" i="0">
                <a:solidFill>
                  <a:srgbClr val="16A34A"/>
                </a:solidFill>
                <a:latin typeface="Arial"/>
              </a:rPr>
              <a:t>▪  </a:t>
            </a:r>
            <a:r>
              <a:rPr sz="960" b="0" i="0">
                <a:solidFill>
                  <a:srgbClr val="33455A"/>
                </a:solidFill>
                <a:latin typeface="Arial"/>
              </a:rPr>
              <a:t>The proof still stands when handed to police or auditors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02168" y="3602736"/>
            <a:ext cx="3666744" cy="2523744"/>
          </a:xfrm>
          <a:prstGeom prst="roundRect">
            <a:avLst>
              <a:gd name="adj" fmla="val 5000"/>
            </a:avLst>
          </a:prstGeom>
          <a:solidFill>
            <a:srgbClr val="F4F9FD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202168" y="3602736"/>
            <a:ext cx="3666744" cy="310896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FFFFFF"/>
                </a:solidFill>
                <a:latin typeface="Arial"/>
              </a:rPr>
              <a:t>STRATEGIC IMPACT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48472" y="4023360"/>
            <a:ext cx="3374136" cy="1993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960" b="1" i="0">
                <a:solidFill>
                  <a:srgbClr val="7C3AED"/>
                </a:solidFill>
                <a:latin typeface="Arial"/>
              </a:rPr>
              <a:t>▪  </a:t>
            </a:r>
            <a:r>
              <a:rPr sz="960" b="0" i="0">
                <a:solidFill>
                  <a:srgbClr val="33455A"/>
                </a:solidFill>
                <a:latin typeface="Arial"/>
              </a:rPr>
              <a:t>Every email checked adds to what the team knows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960" b="1" i="0">
                <a:solidFill>
                  <a:srgbClr val="7C3AED"/>
                </a:solidFill>
                <a:latin typeface="Arial"/>
              </a:rPr>
              <a:t>▪  </a:t>
            </a:r>
            <a:r>
              <a:rPr sz="960" b="0" i="0">
                <a:solidFill>
                  <a:srgbClr val="33455A"/>
                </a:solidFill>
                <a:latin typeface="Arial"/>
              </a:rPr>
              <a:t>Findings are solid enough for real investigations and official reports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960" b="1" i="0">
                <a:solidFill>
                  <a:srgbClr val="7C3AED"/>
                </a:solidFill>
                <a:latin typeface="Arial"/>
              </a:rPr>
              <a:t>▪  </a:t>
            </a:r>
            <a:r>
              <a:rPr sz="960" b="0" i="0">
                <a:solidFill>
                  <a:srgbClr val="33455A"/>
                </a:solidFill>
                <a:latin typeface="Arial"/>
              </a:rPr>
              <a:t>The human still decides — we supply evidence, never opinions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000" b="1">
                <a:solidFill>
                  <a:srgbClr val="0B2A47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874519" cy="603504"/>
          </a:xfrm>
          <a:prstGeom prst="roundRect">
            <a:avLst>
              <a:gd name="adj" fmla="val 14000"/>
            </a:avLst>
          </a:prstGeom>
          <a:solidFill>
            <a:srgbClr val="0B1728"/>
          </a:solidFill>
          <a:ln w="15875">
            <a:solidFill>
              <a:srgbClr val="0EA5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20">
                <a:solidFill>
                  <a:srgbClr val="FFFFFF"/>
                </a:solidFill>
                <a:latin typeface="Arial"/>
              </a:rPr>
              <a:t>HEADWATERS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6376" y="117043"/>
            <a:ext cx="2159812" cy="100108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3891"/>
            <a:ext cx="12191969" cy="504017"/>
          </a:xfrm>
          <a:prstGeom prst="rect">
            <a:avLst/>
          </a:prstGeom>
          <a:solidFill>
            <a:srgbClr val="006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@ Team Headwaters   ·   PS26106   ·   Smart India Hackathon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6129" y="6353891"/>
            <a:ext cx="658368" cy="5040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42415"/>
            <a:ext cx="11548872" cy="1700784"/>
          </a:xfrm>
          <a:prstGeom prst="roundRect">
            <a:avLst>
              <a:gd name="adj" fmla="val 5000"/>
            </a:avLst>
          </a:prstGeom>
          <a:solidFill>
            <a:srgbClr val="F4F9FD"/>
          </a:solidFill>
          <a:ln w="15875">
            <a:solidFill>
              <a:srgbClr val="0B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1042415"/>
            <a:ext cx="11548872" cy="310896"/>
          </a:xfrm>
          <a:prstGeom prst="roundRect">
            <a:avLst>
              <a:gd name="adj" fmla="val 10000"/>
            </a:avLst>
          </a:prstGeom>
          <a:solidFill>
            <a:srgbClr val="0B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FFFFFF"/>
                </a:solidFill>
                <a:latin typeface="Arial"/>
              </a:rPr>
              <a:t>STANDARDS, FRAMEWORKS  &amp;  PRIOR 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362102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940" b="1" i="0">
                <a:solidFill>
                  <a:srgbClr val="006FC0"/>
                </a:solidFill>
                <a:latin typeface="Arial"/>
              </a:rPr>
              <a:t>▪  </a:t>
            </a:r>
            <a:r>
              <a:rPr sz="940" b="1" i="0">
                <a:solidFill>
                  <a:srgbClr val="0B2A47"/>
                </a:solidFill>
                <a:latin typeface="Arial"/>
              </a:rPr>
              <a:t>MITRE ATT&amp;CK</a:t>
            </a:r>
            <a:r>
              <a:rPr sz="940" b="1" i="0">
                <a:solidFill>
                  <a:srgbClr val="0B2A47"/>
                </a:solidFill>
                <a:latin typeface="Arial"/>
              </a:rPr>
              <a:t> : </a:t>
            </a:r>
            <a:r>
              <a:rPr sz="940" b="0" i="0">
                <a:solidFill>
                  <a:srgbClr val="33455A"/>
                </a:solidFill>
                <a:latin typeface="Arial"/>
              </a:rPr>
              <a:t>The world's standard catalogue of attack methods. Our phishing checks map to its official numbers (T1566, T1534).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940" b="1" i="0">
                <a:solidFill>
                  <a:srgbClr val="006FC0"/>
                </a:solidFill>
                <a:latin typeface="Arial"/>
              </a:rPr>
              <a:t>▪  </a:t>
            </a:r>
            <a:r>
              <a:rPr sz="940" b="1" i="0">
                <a:solidFill>
                  <a:srgbClr val="0B2A47"/>
                </a:solidFill>
                <a:latin typeface="Arial"/>
              </a:rPr>
              <a:t>NIST SP 800-86</a:t>
            </a:r>
            <a:r>
              <a:rPr sz="940" b="1" i="0">
                <a:solidFill>
                  <a:srgbClr val="0B2A47"/>
                </a:solidFill>
                <a:latin typeface="Arial"/>
              </a:rPr>
              <a:t> : </a:t>
            </a:r>
            <a:r>
              <a:rPr sz="940" b="0" i="0">
                <a:solidFill>
                  <a:srgbClr val="33455A"/>
                </a:solidFill>
                <a:latin typeface="Arial"/>
              </a:rPr>
              <a:t>The US government guide on handling digital evidence. Our evidence locking follows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6824" y="1463040"/>
            <a:ext cx="3712463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940" b="1" i="0">
                <a:solidFill>
                  <a:srgbClr val="006FC0"/>
                </a:solidFill>
                <a:latin typeface="Arial"/>
              </a:rPr>
              <a:t>▪  </a:t>
            </a:r>
            <a:r>
              <a:rPr sz="940" b="1" i="0">
                <a:solidFill>
                  <a:srgbClr val="0B2A47"/>
                </a:solidFill>
                <a:latin typeface="Arial"/>
              </a:rPr>
              <a:t>The sender ID standards</a:t>
            </a:r>
            <a:r>
              <a:rPr sz="940" b="1" i="0">
                <a:solidFill>
                  <a:srgbClr val="0B2A47"/>
                </a:solidFill>
                <a:latin typeface="Arial"/>
              </a:rPr>
              <a:t> : </a:t>
            </a:r>
            <a:r>
              <a:rPr sz="940" b="0" i="0">
                <a:solidFill>
                  <a:srgbClr val="33455A"/>
                </a:solidFill>
                <a:latin typeface="Arial"/>
              </a:rPr>
              <a:t>SPF, DKIM and DMARC — the three published checks that prove an email really came from who it claims (RFC 7208 / 6376 / 7489).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940" b="1" i="0">
                <a:solidFill>
                  <a:srgbClr val="006FC0"/>
                </a:solidFill>
                <a:latin typeface="Arial"/>
              </a:rPr>
              <a:t>▪  </a:t>
            </a:r>
            <a:r>
              <a:rPr sz="940" b="1" i="0">
                <a:solidFill>
                  <a:srgbClr val="0B2A47"/>
                </a:solidFill>
                <a:latin typeface="Arial"/>
              </a:rPr>
              <a:t>How email is written</a:t>
            </a:r>
            <a:r>
              <a:rPr sz="940" b="1" i="0">
                <a:solidFill>
                  <a:srgbClr val="0B2A47"/>
                </a:solidFill>
                <a:latin typeface="Arial"/>
              </a:rPr>
              <a:t> : </a:t>
            </a:r>
            <a:r>
              <a:rPr sz="940" b="0" i="0">
                <a:solidFill>
                  <a:srgbClr val="33455A"/>
                </a:solidFill>
                <a:latin typeface="Arial"/>
              </a:rPr>
              <a:t>The official rules for email format (RFC 5322, MIME), and the public record of who owns a domain (RDAP).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2168" y="1463040"/>
            <a:ext cx="366674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940" b="1" i="0">
                <a:solidFill>
                  <a:srgbClr val="006FC0"/>
                </a:solidFill>
                <a:latin typeface="Arial"/>
              </a:rPr>
              <a:t>▪  </a:t>
            </a:r>
            <a:r>
              <a:rPr sz="940" b="1" i="0">
                <a:solidFill>
                  <a:srgbClr val="0B2A47"/>
                </a:solidFill>
                <a:latin typeface="Arial"/>
              </a:rPr>
              <a:t>OpenAI</a:t>
            </a:r>
            <a:r>
              <a:rPr sz="940" b="1" i="0">
                <a:solidFill>
                  <a:srgbClr val="0B2A47"/>
                </a:solidFill>
                <a:latin typeface="Arial"/>
              </a:rPr>
              <a:t> : </a:t>
            </a:r>
            <a:r>
              <a:rPr sz="940" b="0" i="0">
                <a:solidFill>
                  <a:srgbClr val="33455A"/>
                </a:solidFill>
                <a:latin typeface="Arial"/>
              </a:rPr>
              <a:t>Used only to judge what the email is trying to do, and to write the explanation — never to decide the verdict.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940" b="1" i="0">
                <a:solidFill>
                  <a:srgbClr val="006FC0"/>
                </a:solidFill>
                <a:latin typeface="Arial"/>
              </a:rPr>
              <a:t>▪  </a:t>
            </a:r>
            <a:r>
              <a:rPr sz="940" b="1" i="0">
                <a:solidFill>
                  <a:srgbClr val="0B2A47"/>
                </a:solidFill>
                <a:latin typeface="Arial"/>
              </a:rPr>
              <a:t>Tools we build alongside</a:t>
            </a:r>
            <a:r>
              <a:rPr sz="940" b="1" i="0">
                <a:solidFill>
                  <a:srgbClr val="0B2A47"/>
                </a:solidFill>
                <a:latin typeface="Arial"/>
              </a:rPr>
              <a:t> : </a:t>
            </a:r>
            <a:r>
              <a:rPr sz="940" b="0" i="0">
                <a:solidFill>
                  <a:srgbClr val="33455A"/>
                </a:solidFill>
                <a:latin typeface="Arial"/>
              </a:rPr>
              <a:t>Microsoft Defender for Office 365 · Proofpoint · Abnormal Security.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2871216"/>
            <a:ext cx="5358384" cy="310896"/>
          </a:xfrm>
          <a:prstGeom prst="roundRect">
            <a:avLst>
              <a:gd name="adj" fmla="val 10000"/>
            </a:avLst>
          </a:prstGeom>
          <a:solidFill>
            <a:srgbClr val="6B7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50">
                <a:solidFill>
                  <a:srgbClr val="FFFFFF"/>
                </a:solidFill>
                <a:latin typeface="Arial"/>
              </a:rPr>
              <a:t>SOLUTIONS THAT ALREADY EXIST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3236976"/>
            <a:ext cx="5358384" cy="1335024"/>
          </a:xfrm>
          <a:prstGeom prst="roundRect">
            <a:avLst>
              <a:gd name="adj" fmla="val 5000"/>
            </a:avLst>
          </a:prstGeom>
          <a:solidFill>
            <a:srgbClr val="F4F9FD"/>
          </a:solidFill>
          <a:ln w="12700">
            <a:solidFill>
              <a:srgbClr val="C9D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" y="3346704"/>
            <a:ext cx="5065776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940" b="1" i="0">
                <a:solidFill>
                  <a:srgbClr val="6B7F94"/>
                </a:solidFill>
                <a:latin typeface="Arial"/>
              </a:rPr>
              <a:t>▪  </a:t>
            </a:r>
            <a:r>
              <a:rPr sz="940" b="0" i="0">
                <a:solidFill>
                  <a:srgbClr val="33455A"/>
                </a:solidFill>
                <a:latin typeface="Arial"/>
              </a:rPr>
              <a:t>Microsoft Defender, Proofpoint and Abnormal block known attacks well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940" b="1" i="0">
                <a:solidFill>
                  <a:srgbClr val="6B7F94"/>
                </a:solidFill>
                <a:latin typeface="Arial"/>
              </a:rPr>
              <a:t>▪  </a:t>
            </a:r>
            <a:r>
              <a:rPr sz="940" b="0" i="0">
                <a:solidFill>
                  <a:srgbClr val="33455A"/>
                </a:solidFill>
                <a:latin typeface="Arial"/>
              </a:rPr>
              <a:t>But they take over your email system, which is costly and disruptive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940" b="1" i="0">
                <a:solidFill>
                  <a:srgbClr val="6B7F94"/>
                </a:solidFill>
                <a:latin typeface="Arial"/>
              </a:rPr>
              <a:t>▪  </a:t>
            </a:r>
            <a:r>
              <a:rPr sz="940" b="0" i="0">
                <a:solidFill>
                  <a:srgbClr val="33455A"/>
                </a:solidFill>
                <a:latin typeface="Arial"/>
              </a:rPr>
              <a:t>And they give a yes-or-no answer — not an explanation, not a source, and not proof you could hand to the police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797296" y="3712463"/>
            <a:ext cx="384048" cy="384048"/>
          </a:xfrm>
          <a:prstGeom prst="rightArrow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2871216"/>
            <a:ext cx="5559552" cy="310896"/>
          </a:xfrm>
          <a:prstGeom prst="roundRect">
            <a:avLst>
              <a:gd name="adj" fmla="val 1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50">
                <a:solidFill>
                  <a:srgbClr val="FFFFFF"/>
                </a:solidFill>
                <a:latin typeface="Arial"/>
              </a:rPr>
              <a:t>WHERE HEADWATERS STANDS OUT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236976"/>
            <a:ext cx="5559552" cy="1335024"/>
          </a:xfrm>
          <a:prstGeom prst="roundRect">
            <a:avLst>
              <a:gd name="adj" fmla="val 5000"/>
            </a:avLst>
          </a:prstGeom>
          <a:solidFill>
            <a:srgbClr val="F4F9FD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3328416"/>
            <a:ext cx="526694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19" b="1" i="0">
                <a:solidFill>
                  <a:srgbClr val="16A34A"/>
                </a:solidFill>
                <a:latin typeface="Arial"/>
              </a:rPr>
              <a:t>▪  </a:t>
            </a:r>
            <a:r>
              <a:rPr sz="919" b="1" i="0">
                <a:solidFill>
                  <a:srgbClr val="0B2A47"/>
                </a:solidFill>
                <a:latin typeface="Arial"/>
              </a:rPr>
              <a:t>It explains itself</a:t>
            </a:r>
            <a:r>
              <a:rPr sz="919" b="1" i="0">
                <a:solidFill>
                  <a:srgbClr val="0B2A47"/>
                </a:solidFill>
                <a:latin typeface="Arial"/>
              </a:rPr>
              <a:t> : </a:t>
            </a:r>
            <a:r>
              <a:rPr sz="919" b="0" i="0">
                <a:solidFill>
                  <a:srgbClr val="33455A"/>
                </a:solidFill>
                <a:latin typeface="Arial"/>
              </a:rPr>
              <a:t>every point of the score comes from a rule you can read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19" b="1" i="0">
                <a:solidFill>
                  <a:srgbClr val="16A34A"/>
                </a:solidFill>
                <a:latin typeface="Arial"/>
              </a:rPr>
              <a:t>▪  </a:t>
            </a:r>
            <a:r>
              <a:rPr sz="919" b="1" i="0">
                <a:solidFill>
                  <a:srgbClr val="0B2A47"/>
                </a:solidFill>
                <a:latin typeface="Arial"/>
              </a:rPr>
              <a:t>It traces the source</a:t>
            </a:r>
            <a:r>
              <a:rPr sz="919" b="1" i="0">
                <a:solidFill>
                  <a:srgbClr val="0B2A47"/>
                </a:solidFill>
                <a:latin typeface="Arial"/>
              </a:rPr>
              <a:t> : </a:t>
            </a:r>
            <a:r>
              <a:rPr sz="919" b="0" i="0">
                <a:solidFill>
                  <a:srgbClr val="33455A"/>
                </a:solidFill>
                <a:latin typeface="Arial"/>
              </a:rPr>
              <a:t>shows the likely server, and how sure we are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19" b="1" i="0">
                <a:solidFill>
                  <a:srgbClr val="16A34A"/>
                </a:solidFill>
                <a:latin typeface="Arial"/>
              </a:rPr>
              <a:t>▪  </a:t>
            </a:r>
            <a:r>
              <a:rPr sz="919" b="1" i="0">
                <a:solidFill>
                  <a:srgbClr val="0B2A47"/>
                </a:solidFill>
                <a:latin typeface="Arial"/>
              </a:rPr>
              <a:t>It connects attacks</a:t>
            </a:r>
            <a:r>
              <a:rPr sz="919" b="1" i="0">
                <a:solidFill>
                  <a:srgbClr val="0B2A47"/>
                </a:solidFill>
                <a:latin typeface="Arial"/>
              </a:rPr>
              <a:t> : </a:t>
            </a:r>
            <a:r>
              <a:rPr sz="919" b="0" i="0">
                <a:solidFill>
                  <a:srgbClr val="33455A"/>
                </a:solidFill>
                <a:latin typeface="Arial"/>
              </a:rPr>
              <a:t>spots when many people were hit by the same attacker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19" b="1" i="0">
                <a:solidFill>
                  <a:srgbClr val="16A34A"/>
                </a:solidFill>
                <a:latin typeface="Arial"/>
              </a:rPr>
              <a:t>▪  </a:t>
            </a:r>
            <a:r>
              <a:rPr sz="919" b="1" i="0">
                <a:solidFill>
                  <a:srgbClr val="0B2A47"/>
                </a:solidFill>
                <a:latin typeface="Arial"/>
              </a:rPr>
              <a:t>It locks the proof</a:t>
            </a:r>
            <a:r>
              <a:rPr sz="919" b="1" i="0">
                <a:solidFill>
                  <a:srgbClr val="0B2A47"/>
                </a:solidFill>
                <a:latin typeface="Arial"/>
              </a:rPr>
              <a:t> : </a:t>
            </a:r>
            <a:r>
              <a:rPr sz="919" b="0" i="0">
                <a:solidFill>
                  <a:srgbClr val="33455A"/>
                </a:solidFill>
                <a:latin typeface="Arial"/>
              </a:rPr>
              <a:t>evidence anchored on a blockchain, so it cannot be edited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19" b="1" i="0">
                <a:solidFill>
                  <a:srgbClr val="16A34A"/>
                </a:solidFill>
                <a:latin typeface="Arial"/>
              </a:rPr>
              <a:t>▪  </a:t>
            </a:r>
            <a:r>
              <a:rPr sz="919" b="1" i="0">
                <a:solidFill>
                  <a:srgbClr val="0B2A47"/>
                </a:solidFill>
                <a:latin typeface="Arial"/>
              </a:rPr>
              <a:t>It fits alongside</a:t>
            </a:r>
            <a:r>
              <a:rPr sz="919" b="1" i="0">
                <a:solidFill>
                  <a:srgbClr val="0B2A47"/>
                </a:solidFill>
                <a:latin typeface="Arial"/>
              </a:rPr>
              <a:t> : </a:t>
            </a:r>
            <a:r>
              <a:rPr sz="919" b="0" i="0">
                <a:solidFill>
                  <a:srgbClr val="33455A"/>
                </a:solidFill>
                <a:latin typeface="Arial"/>
              </a:rPr>
              <a:t>no change to the email system they already use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4700016"/>
            <a:ext cx="7498079" cy="1426464"/>
          </a:xfrm>
          <a:prstGeom prst="roundRect">
            <a:avLst>
              <a:gd name="adj" fmla="val 5000"/>
            </a:avLst>
          </a:prstGeom>
          <a:solidFill>
            <a:srgbClr val="0B1728"/>
          </a:solidFill>
          <a:ln w="15875">
            <a:solidFill>
              <a:srgbClr val="0EA5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 spc="160">
                <a:solidFill>
                  <a:srgbClr val="67E8F9"/>
                </a:solidFill>
                <a:latin typeface="Arial"/>
              </a:rPr>
              <a:t>OUR POSITION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“We are not replacing email security. Filters decide what to </a:t>
            </a:r>
            <a:r>
              <a:rPr sz="1200" b="1" i="0">
                <a:solidFill>
                  <a:srgbClr val="67E8F9"/>
                </a:solidFill>
                <a:latin typeface="Arial"/>
              </a:rPr>
              <a:t>block</a:t>
            </a:r>
            <a:r>
              <a:rPr sz="1200" b="0" i="0">
                <a:solidFill>
                  <a:srgbClr val="FFFFFF"/>
                </a:solidFill>
                <a:latin typeface="Arial"/>
              </a:rPr>
              <a:t>. Headwaters explains what got </a:t>
            </a:r>
            <a:r>
              <a:rPr sz="1200" b="1" i="0">
                <a:solidFill>
                  <a:srgbClr val="67E8F9"/>
                </a:solidFill>
                <a:latin typeface="Arial"/>
              </a:rPr>
              <a:t>through</a:t>
            </a:r>
            <a:r>
              <a:rPr sz="1200" b="0" i="0">
                <a:solidFill>
                  <a:srgbClr val="FFFFFF"/>
                </a:solidFill>
                <a:latin typeface="Arial"/>
              </a:rPr>
              <a:t> — and gives the analyst an answer, a source and a piece of proof they can stand behind.”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28431" y="4700016"/>
            <a:ext cx="3840480" cy="1426464"/>
          </a:xfrm>
          <a:prstGeom prst="roundRect">
            <a:avLst>
              <a:gd name="adj" fmla="val 5000"/>
            </a:avLst>
          </a:prstGeom>
          <a:solidFill>
            <a:srgbClr val="F4F9FD"/>
          </a:solidFill>
          <a:ln w="15875">
            <a:solidFill>
              <a:srgbClr val="0B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28431" y="4700016"/>
            <a:ext cx="3840480" cy="292608"/>
          </a:xfrm>
          <a:prstGeom prst="roundRect">
            <a:avLst>
              <a:gd name="adj" fmla="val 10000"/>
            </a:avLst>
          </a:prstGeom>
          <a:solidFill>
            <a:srgbClr val="0B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FFFFFF"/>
                </a:solidFill>
                <a:latin typeface="Arial"/>
              </a:rPr>
              <a:t>PROJECT RESOURCES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4736" y="5102352"/>
            <a:ext cx="3547872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19" b="1" i="0">
                <a:solidFill>
                  <a:srgbClr val="006FC0"/>
                </a:solidFill>
                <a:latin typeface="Arial"/>
              </a:rPr>
              <a:t>▪  </a:t>
            </a:r>
            <a:r>
              <a:rPr sz="919" b="1" i="0">
                <a:solidFill>
                  <a:srgbClr val="0B2A47"/>
                </a:solidFill>
                <a:latin typeface="Arial"/>
              </a:rPr>
              <a:t>Demo video</a:t>
            </a:r>
            <a:r>
              <a:rPr sz="919" b="1" i="0">
                <a:solidFill>
                  <a:srgbClr val="0B2A47"/>
                </a:solidFill>
                <a:latin typeface="Arial"/>
              </a:rPr>
              <a:t> : </a:t>
            </a:r>
            <a:r>
              <a:rPr sz="919" b="0" i="0">
                <a:solidFill>
                  <a:srgbClr val="33455A"/>
                </a:solidFill>
                <a:latin typeface="Arial"/>
              </a:rPr>
              <a:t>&lt; link &gt;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19" b="1" i="0">
                <a:solidFill>
                  <a:srgbClr val="006FC0"/>
                </a:solidFill>
                <a:latin typeface="Arial"/>
              </a:rPr>
              <a:t>▪  </a:t>
            </a:r>
            <a:r>
              <a:rPr sz="919" b="1" i="0">
                <a:solidFill>
                  <a:srgbClr val="0B2A47"/>
                </a:solidFill>
                <a:latin typeface="Arial"/>
              </a:rPr>
              <a:t>Repository</a:t>
            </a:r>
            <a:r>
              <a:rPr sz="919" b="1" i="0">
                <a:solidFill>
                  <a:srgbClr val="0B2A47"/>
                </a:solidFill>
                <a:latin typeface="Arial"/>
              </a:rPr>
              <a:t> : </a:t>
            </a:r>
            <a:r>
              <a:rPr sz="919" b="0" i="0">
                <a:solidFill>
                  <a:srgbClr val="33455A"/>
                </a:solidFill>
                <a:latin typeface="Arial"/>
              </a:rPr>
              <a:t>&lt; link &gt;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19" b="1" i="0">
                <a:solidFill>
                  <a:srgbClr val="006FC0"/>
                </a:solidFill>
                <a:latin typeface="Arial"/>
              </a:rPr>
              <a:t>▪  </a:t>
            </a:r>
            <a:r>
              <a:rPr sz="919" b="1" i="0">
                <a:solidFill>
                  <a:srgbClr val="0B2A47"/>
                </a:solidFill>
                <a:latin typeface="Arial"/>
              </a:rPr>
              <a:t>Docs</a:t>
            </a:r>
            <a:r>
              <a:rPr sz="919" b="1" i="0">
                <a:solidFill>
                  <a:srgbClr val="0B2A47"/>
                </a:solidFill>
                <a:latin typeface="Arial"/>
              </a:rPr>
              <a:t> : </a:t>
            </a:r>
            <a:r>
              <a:rPr sz="919" b="0" i="0">
                <a:solidFill>
                  <a:srgbClr val="33455A"/>
                </a:solidFill>
                <a:latin typeface="Arial"/>
              </a:rPr>
              <a:t>architecture · claim contract · threat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2026-09-04T05:16:52Z</dcterms:created>
  <dcterms:modified xsi:type="dcterms:W3CDTF">2026-09-04T05:16:52Z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2026-08-28T00:00:00Z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2026-09-04T00:00:00Z</vt:filetime>
  </property>
  <property fmtid="{D5CDD505-2E9C-101B-9397-08002B2CF9AE}" pid="6" name="Producer">
    <vt:lpwstr>www.ilovepdf.com</vt:lpwstr>
  </property>
</Properties>
</file>